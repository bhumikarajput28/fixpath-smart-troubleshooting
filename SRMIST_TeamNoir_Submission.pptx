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gFONHeGVZmbB/9fr54brGSqOLHT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8" name="Google Shape;88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h1f3510bad6b775e2_3_1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9" name="Google Shape;99;h1f3510bad6b775e2_3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9" name="Google Shape;13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2" name="Google Shape;17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4" name="Google Shape;2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h1f3510bad6b775e2_88_10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9" name="Google Shape;269;h1f3510bad6b775e2_88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2" name="Google Shape;30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9" name="Google Shape;31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h1f3510bad6b775e2_88_19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2" name="Google Shape;332;h1f3510bad6b775e2_88_19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h1f3510bad6b775e2_88_21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6" name="Google Shape;356;h1f3510bad6b775e2_88_2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h1f3510bad6b775e2_88_27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9" name="Google Shape;379;h1f3510bad6b775e2_88_27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6" name="Google Shape;406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Closing slide. Add the Google Form URL and a contact email before sharing. Edition 2 organising team for reference: Language AI - Sourabh Tiwari, Gaurav, Sanjeeth Pothireddy, Gorang Maniar; PRISM - Binny Lakra, Prakhar Chandrakar, Vishu Kumar; Kick-off and mentors - Giridhar Jakki, Deepraj Prabhakar Patkar (Language AI), Srimanu Prasad Nagaraju, Ashish Kumar (Tech Strategy).</a:t>
            </a:r>
            <a:endParaRPr/>
          </a:p>
        </p:txBody>
      </p:sp>
      <p:sp>
        <p:nvSpPr>
          <p:cNvPr id="407" name="Google Shape;407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2" name="Google Shape;62;p2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3" name="Google Shape;63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0" name="Google Shape;7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/>
          <p:nvPr/>
        </p:nvSpPr>
        <p:spPr>
          <a:xfrm>
            <a:off x="777240" y="676656"/>
            <a:ext cx="242316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 cap="flat" cmpd="sng">
            <a:solidFill>
              <a:srgbClr val="D9D3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777240" y="676656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SAMSUNG PRISM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77240" y="1207008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5000"/>
              <a:buFont typeface="Arial"/>
              <a:buNone/>
            </a:pPr>
            <a:r>
              <a:rPr lang="en-US" sz="5000" b="1" i="0" u="none" strike="noStrike" cap="non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Generative AI</a:t>
            </a:r>
            <a:endParaRPr sz="5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77240" y="1901952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5000"/>
              <a:buFont typeface="Arial"/>
              <a:buNone/>
            </a:pPr>
            <a:r>
              <a:rPr lang="en-US" sz="5000" b="1" i="0" u="none" strike="noStrike" cap="non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Hackathon</a:t>
            </a:r>
            <a:endParaRPr sz="5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77240" y="2724912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2500"/>
              <a:buFont typeface="Arial"/>
              <a:buNone/>
            </a:pPr>
            <a:r>
              <a:rPr lang="en-US" sz="2500" b="1" i="0" u="none" strike="noStrike" cap="non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3rd Edition</a:t>
            </a:r>
            <a:r>
              <a:rPr lang="en-US" sz="2000" b="0" i="0" u="none" strike="noStrike" cap="non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  2026 – 27</a:t>
            </a:r>
            <a:endParaRPr sz="2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777188" y="3255250"/>
            <a:ext cx="6126600" cy="26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77800" marR="0" lvl="0" indent="-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Theme ID -02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7800" marR="0" lvl="0" indent="-1778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Team Name -Team Noir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7800" marR="0" lvl="0" indent="-1778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College Name -SRM </a:t>
            </a:r>
            <a:r>
              <a:rPr lang="en-US" sz="160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Institute</a:t>
            </a: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of Science and Technology </a:t>
            </a:r>
            <a:r>
              <a:rPr lang="en-US" sz="1600" dirty="0" err="1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Kattankulathur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7800" marR="0" lvl="0" indent="-1778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1- Bhumika Rajput</a:t>
            </a:r>
            <a:r>
              <a:rPr lang="en-US" sz="160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(br7758@srmist.edu.in)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7800" indent="-177800">
              <a:spcBef>
                <a:spcPts val="500"/>
              </a:spcBef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2-</a:t>
            </a:r>
            <a:r>
              <a:rPr lang="nl-NL" sz="160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Hardik Upadhyay(hu2490@srmist.edu.in)</a:t>
            </a:r>
            <a:endParaRPr lang="nl-NL" dirty="0"/>
          </a:p>
          <a:p>
            <a:pPr marL="177800" indent="-177800">
              <a:spcBef>
                <a:spcPts val="500"/>
              </a:spcBef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3- </a:t>
            </a:r>
            <a:r>
              <a:rPr lang="en-US" sz="160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Divyanshi Shishodia(ds9340@srmist.edu.in)</a:t>
            </a:r>
          </a:p>
          <a:p>
            <a:pPr marL="177800" marR="0" lvl="0" indent="-1778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Submission </a:t>
            </a:r>
            <a:r>
              <a:rPr lang="en-US" sz="1600" b="0" i="0" u="none" strike="noStrike" cap="none" dirty="0" err="1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Github</a:t>
            </a: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link - </a:t>
            </a:r>
            <a:r>
              <a:rPr lang="en-US" sz="160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https://github.com/BhumikaRajput28/FixPath-Smart-Troubleshooting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7800" marR="0" lvl="0" indent="-762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 dirty="0">
              <a:solidFill>
                <a:srgbClr val="63637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" name="Google Shape;96;p1" descr="hero_network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59168" y="1051560"/>
            <a:ext cx="4572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h1f3510bad6b775e2_3_115"/>
          <p:cNvSpPr txBox="1">
            <a:spLocks noGrp="1"/>
          </p:cNvSpPr>
          <p:nvPr>
            <p:ph type="title"/>
          </p:nvPr>
        </p:nvSpPr>
        <p:spPr>
          <a:xfrm>
            <a:off x="762000" y="266700"/>
            <a:ext cx="106680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>
                <a:solidFill>
                  <a:srgbClr val="704EA6"/>
                </a:solidFill>
                <a:latin typeface="Arial"/>
                <a:ea typeface="Arial"/>
                <a:cs typeface="Arial"/>
                <a:sym typeface="Arial"/>
              </a:rPr>
              <a:t>Theme</a:t>
            </a:r>
            <a:endParaRPr sz="4200" b="1" i="0" u="none" strike="noStrike">
              <a:solidFill>
                <a:srgbClr val="704EA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2" name="Google Shape;102;h1f3510bad6b775e2_3_115"/>
          <p:cNvGrpSpPr/>
          <p:nvPr/>
        </p:nvGrpSpPr>
        <p:grpSpPr>
          <a:xfrm>
            <a:off x="762000" y="1047750"/>
            <a:ext cx="4286400" cy="1476300"/>
            <a:chOff x="0" y="0"/>
            <a:chExt cx="4286400" cy="1476300"/>
          </a:xfrm>
        </p:grpSpPr>
        <p:sp>
          <p:nvSpPr>
            <p:cNvPr id="103" name="Google Shape;103;h1f3510bad6b775e2_3_115"/>
            <p:cNvSpPr/>
            <p:nvPr/>
          </p:nvSpPr>
          <p:spPr>
            <a:xfrm>
              <a:off x="0" y="0"/>
              <a:ext cx="4286400" cy="1476300"/>
            </a:xfrm>
            <a:prstGeom prst="roundRect">
              <a:avLst>
                <a:gd name="adj" fmla="val 7741"/>
              </a:avLst>
            </a:prstGeom>
            <a:solidFill>
              <a:srgbClr val="F1F5F9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h1f3510bad6b775e2_3_115"/>
            <p:cNvSpPr txBox="1"/>
            <p:nvPr/>
          </p:nvSpPr>
          <p:spPr>
            <a:xfrm>
              <a:off x="228600" y="190500"/>
              <a:ext cx="38292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DC2626"/>
                  </a:solidFill>
                  <a:latin typeface="Arial"/>
                  <a:ea typeface="Arial"/>
                  <a:cs typeface="Arial"/>
                  <a:sym typeface="Arial"/>
                </a:rPr>
                <a:t>●</a:t>
              </a:r>
              <a:r>
                <a:rPr lang="en-US" sz="1400" b="1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 Problem Statement</a:t>
              </a:r>
              <a:endParaRPr sz="1400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100" b="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Smartphone users often describe technical issues in informal, vague language, making it difficult for support systems to identify and resolve problems efficiently.</a:t>
              </a:r>
              <a:endParaRPr sz="1100" b="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5" name="Google Shape;105;h1f3510bad6b775e2_3_115"/>
          <p:cNvGrpSpPr/>
          <p:nvPr/>
        </p:nvGrpSpPr>
        <p:grpSpPr>
          <a:xfrm>
            <a:off x="762000" y="2667000"/>
            <a:ext cx="4286400" cy="1666800"/>
            <a:chOff x="0" y="0"/>
            <a:chExt cx="4286400" cy="1666800"/>
          </a:xfrm>
        </p:grpSpPr>
        <p:sp>
          <p:nvSpPr>
            <p:cNvPr id="106" name="Google Shape;106;h1f3510bad6b775e2_3_115"/>
            <p:cNvSpPr/>
            <p:nvPr/>
          </p:nvSpPr>
          <p:spPr>
            <a:xfrm>
              <a:off x="0" y="0"/>
              <a:ext cx="4286400" cy="1666800"/>
            </a:xfrm>
            <a:prstGeom prst="roundRect">
              <a:avLst>
                <a:gd name="adj" fmla="val 6857"/>
              </a:avLst>
            </a:prstGeom>
            <a:solidFill>
              <a:srgbClr val="F3E8FF"/>
            </a:solidFill>
            <a:ln w="14300" cap="flat" cmpd="sng">
              <a:solidFill>
                <a:srgbClr val="DDD6F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h1f3510bad6b775e2_3_115"/>
            <p:cNvSpPr txBox="1"/>
            <p:nvPr/>
          </p:nvSpPr>
          <p:spPr>
            <a:xfrm>
              <a:off x="228600" y="190500"/>
              <a:ext cx="38292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7C3AED"/>
                  </a:solidFill>
                  <a:latin typeface="Arial"/>
                  <a:ea typeface="Arial"/>
                  <a:cs typeface="Arial"/>
                  <a:sym typeface="Arial"/>
                </a:rPr>
                <a:t>★</a:t>
              </a:r>
              <a:r>
                <a:rPr lang="en-US" sz="1400" b="1">
                  <a:solidFill>
                    <a:srgbClr val="5B21B6"/>
                  </a:solidFill>
                  <a:latin typeface="Arial"/>
                  <a:ea typeface="Arial"/>
                  <a:cs typeface="Arial"/>
                  <a:sym typeface="Arial"/>
                </a:rPr>
                <a:t> Our Solution: FixPath</a:t>
              </a:r>
              <a:endParaRPr sz="1400" b="1">
                <a:solidFill>
                  <a:srgbClr val="5B21B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100" b="0">
                  <a:solidFill>
                    <a:srgbClr val="4C1D95"/>
                  </a:solidFill>
                  <a:latin typeface="Arial"/>
                  <a:ea typeface="Arial"/>
                  <a:cs typeface="Arial"/>
                  <a:sym typeface="Arial"/>
                </a:rPr>
                <a:t>An automated troubleshooting engine that transforms vague Galaxy device complaints into structured, validated, and actionable troubleshooting plans.</a:t>
              </a:r>
              <a:endParaRPr sz="1100" b="0">
                <a:solidFill>
                  <a:srgbClr val="4C1D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8" name="Google Shape;108;h1f3510bad6b775e2_3_115"/>
          <p:cNvGrpSpPr/>
          <p:nvPr/>
        </p:nvGrpSpPr>
        <p:grpSpPr>
          <a:xfrm>
            <a:off x="762000" y="4476750"/>
            <a:ext cx="4286400" cy="1714500"/>
            <a:chOff x="0" y="0"/>
            <a:chExt cx="4286400" cy="1714500"/>
          </a:xfrm>
        </p:grpSpPr>
        <p:sp>
          <p:nvSpPr>
            <p:cNvPr id="109" name="Google Shape;109;h1f3510bad6b775e2_3_115"/>
            <p:cNvSpPr/>
            <p:nvPr/>
          </p:nvSpPr>
          <p:spPr>
            <a:xfrm>
              <a:off x="0" y="0"/>
              <a:ext cx="4286400" cy="1714500"/>
            </a:xfrm>
            <a:prstGeom prst="roundRect">
              <a:avLst>
                <a:gd name="adj" fmla="val 6666"/>
              </a:avLst>
            </a:prstGeom>
            <a:solidFill>
              <a:srgbClr val="704EA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h1f3510bad6b775e2_3_115"/>
            <p:cNvSpPr txBox="1"/>
            <p:nvPr/>
          </p:nvSpPr>
          <p:spPr>
            <a:xfrm>
              <a:off x="228600" y="190500"/>
              <a:ext cx="38292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Expected Outcome</a:t>
              </a:r>
              <a:endParaRPr sz="14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100" b="0">
                  <a:solidFill>
                    <a:srgbClr val="DDD6FE"/>
                  </a:solidFill>
                  <a:latin typeface="Arial"/>
                  <a:ea typeface="Arial"/>
                  <a:cs typeface="Arial"/>
                  <a:sym typeface="Arial"/>
                </a:rPr>
                <a:t>Reduce manual troubleshooting effort and simplify device issue resolution through accurate, accessible, and actionable guidance.</a:t>
              </a:r>
              <a:endParaRPr sz="1100" b="0">
                <a:solidFill>
                  <a:srgbClr val="DDD6F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1" name="Google Shape;111;h1f3510bad6b775e2_3_115"/>
          <p:cNvSpPr txBox="1"/>
          <p:nvPr/>
        </p:nvSpPr>
        <p:spPr>
          <a:xfrm>
            <a:off x="5334000" y="1047750"/>
            <a:ext cx="6096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Key Objectives</a:t>
            </a:r>
            <a:endParaRPr sz="1500" b="1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2" name="Google Shape;112;h1f3510bad6b775e2_3_115"/>
          <p:cNvGrpSpPr/>
          <p:nvPr/>
        </p:nvGrpSpPr>
        <p:grpSpPr>
          <a:xfrm>
            <a:off x="5334000" y="1428750"/>
            <a:ext cx="6096000" cy="857400"/>
            <a:chOff x="0" y="0"/>
            <a:chExt cx="6096000" cy="857400"/>
          </a:xfrm>
        </p:grpSpPr>
        <p:sp>
          <p:nvSpPr>
            <p:cNvPr id="113" name="Google Shape;113;h1f3510bad6b775e2_3_115"/>
            <p:cNvSpPr/>
            <p:nvPr/>
          </p:nvSpPr>
          <p:spPr>
            <a:xfrm>
              <a:off x="0" y="0"/>
              <a:ext cx="6096000" cy="85740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h1f3510bad6b775e2_3_115"/>
            <p:cNvSpPr/>
            <p:nvPr/>
          </p:nvSpPr>
          <p:spPr>
            <a:xfrm>
              <a:off x="171450" y="257175"/>
              <a:ext cx="342900" cy="342900"/>
            </a:xfrm>
            <a:prstGeom prst="ellipse">
              <a:avLst/>
            </a:prstGeom>
            <a:solidFill>
              <a:srgbClr val="F3E8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h1f3510bad6b775e2_3_115"/>
            <p:cNvSpPr txBox="1"/>
            <p:nvPr/>
          </p:nvSpPr>
          <p:spPr>
            <a:xfrm>
              <a:off x="247650" y="304800"/>
              <a:ext cx="190500" cy="247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 i="0" u="none" strike="noStrike">
                  <a:solidFill>
                    <a:srgbClr val="704EA6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 sz="1100" b="1" i="0" u="none" strike="noStrike">
                <a:solidFill>
                  <a:srgbClr val="704EA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h1f3510bad6b775e2_3_115"/>
            <p:cNvSpPr txBox="1"/>
            <p:nvPr/>
          </p:nvSpPr>
          <p:spPr>
            <a:xfrm>
              <a:off x="666750" y="152400"/>
              <a:ext cx="5200800" cy="55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Query Understanding</a:t>
              </a:r>
              <a:endParaRPr sz="1200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lang="en-US" sz="1100" b="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Convert informal complaints into structured technical queries.</a:t>
              </a:r>
              <a:endParaRPr sz="1100" b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7" name="Google Shape;117;h1f3510bad6b775e2_3_115"/>
          <p:cNvGrpSpPr/>
          <p:nvPr/>
        </p:nvGrpSpPr>
        <p:grpSpPr>
          <a:xfrm>
            <a:off x="5334000" y="2400300"/>
            <a:ext cx="6096000" cy="857400"/>
            <a:chOff x="0" y="0"/>
            <a:chExt cx="6096000" cy="857400"/>
          </a:xfrm>
        </p:grpSpPr>
        <p:sp>
          <p:nvSpPr>
            <p:cNvPr id="118" name="Google Shape;118;h1f3510bad6b775e2_3_115"/>
            <p:cNvSpPr/>
            <p:nvPr/>
          </p:nvSpPr>
          <p:spPr>
            <a:xfrm>
              <a:off x="0" y="0"/>
              <a:ext cx="6096000" cy="85740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h1f3510bad6b775e2_3_115"/>
            <p:cNvSpPr/>
            <p:nvPr/>
          </p:nvSpPr>
          <p:spPr>
            <a:xfrm>
              <a:off x="171450" y="257175"/>
              <a:ext cx="342900" cy="342900"/>
            </a:xfrm>
            <a:prstGeom prst="ellipse">
              <a:avLst/>
            </a:prstGeom>
            <a:solidFill>
              <a:srgbClr val="F3E8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h1f3510bad6b775e2_3_115"/>
            <p:cNvSpPr txBox="1"/>
            <p:nvPr/>
          </p:nvSpPr>
          <p:spPr>
            <a:xfrm>
              <a:off x="247650" y="304800"/>
              <a:ext cx="190500" cy="247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 i="0" u="none" strike="noStrike">
                  <a:solidFill>
                    <a:srgbClr val="704EA6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  <a:endParaRPr sz="1100" b="1" i="0" u="none" strike="noStrike">
                <a:solidFill>
                  <a:srgbClr val="704EA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h1f3510bad6b775e2_3_115"/>
            <p:cNvSpPr txBox="1"/>
            <p:nvPr/>
          </p:nvSpPr>
          <p:spPr>
            <a:xfrm>
              <a:off x="666750" y="152400"/>
              <a:ext cx="5200800" cy="55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Automated Troubleshooting</a:t>
              </a:r>
              <a:endParaRPr sz="1200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lang="en-US" sz="1100" b="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Extract relevant actions and organize them into clear steps.</a:t>
              </a:r>
              <a:endParaRPr sz="1100" b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2" name="Google Shape;122;h1f3510bad6b775e2_3_115"/>
          <p:cNvGrpSpPr/>
          <p:nvPr/>
        </p:nvGrpSpPr>
        <p:grpSpPr>
          <a:xfrm>
            <a:off x="5334000" y="3371850"/>
            <a:ext cx="6096000" cy="857400"/>
            <a:chOff x="0" y="0"/>
            <a:chExt cx="6096000" cy="857400"/>
          </a:xfrm>
        </p:grpSpPr>
        <p:sp>
          <p:nvSpPr>
            <p:cNvPr id="123" name="Google Shape;123;h1f3510bad6b775e2_3_115"/>
            <p:cNvSpPr/>
            <p:nvPr/>
          </p:nvSpPr>
          <p:spPr>
            <a:xfrm>
              <a:off x="0" y="0"/>
              <a:ext cx="6096000" cy="85740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h1f3510bad6b775e2_3_115"/>
            <p:cNvSpPr/>
            <p:nvPr/>
          </p:nvSpPr>
          <p:spPr>
            <a:xfrm>
              <a:off x="171450" y="257175"/>
              <a:ext cx="342900" cy="342900"/>
            </a:xfrm>
            <a:prstGeom prst="ellipse">
              <a:avLst/>
            </a:prstGeom>
            <a:solidFill>
              <a:srgbClr val="F3E8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h1f3510bad6b775e2_3_115"/>
            <p:cNvSpPr txBox="1"/>
            <p:nvPr/>
          </p:nvSpPr>
          <p:spPr>
            <a:xfrm>
              <a:off x="247650" y="304800"/>
              <a:ext cx="190500" cy="247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 i="0" u="none" strike="noStrike">
                  <a:solidFill>
                    <a:srgbClr val="704EA6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 sz="1100" b="1" i="0" u="none" strike="noStrike">
                <a:solidFill>
                  <a:srgbClr val="704EA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h1f3510bad6b775e2_3_115"/>
            <p:cNvSpPr txBox="1"/>
            <p:nvPr/>
          </p:nvSpPr>
          <p:spPr>
            <a:xfrm>
              <a:off x="666750" y="152400"/>
              <a:ext cx="5200800" cy="55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Deeplink Integration</a:t>
              </a:r>
              <a:endParaRPr sz="1200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lang="en-US" sz="1100" b="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Provide verified, one-tap navigation to device settings.</a:t>
              </a:r>
              <a:endParaRPr sz="1100" b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7" name="Google Shape;127;h1f3510bad6b775e2_3_115"/>
          <p:cNvGrpSpPr/>
          <p:nvPr/>
        </p:nvGrpSpPr>
        <p:grpSpPr>
          <a:xfrm>
            <a:off x="5334000" y="4343400"/>
            <a:ext cx="6096000" cy="857400"/>
            <a:chOff x="0" y="0"/>
            <a:chExt cx="6096000" cy="857400"/>
          </a:xfrm>
        </p:grpSpPr>
        <p:sp>
          <p:nvSpPr>
            <p:cNvPr id="128" name="Google Shape;128;h1f3510bad6b775e2_3_115"/>
            <p:cNvSpPr/>
            <p:nvPr/>
          </p:nvSpPr>
          <p:spPr>
            <a:xfrm>
              <a:off x="0" y="0"/>
              <a:ext cx="6096000" cy="85740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h1f3510bad6b775e2_3_115"/>
            <p:cNvSpPr/>
            <p:nvPr/>
          </p:nvSpPr>
          <p:spPr>
            <a:xfrm>
              <a:off x="171450" y="257175"/>
              <a:ext cx="342900" cy="342900"/>
            </a:xfrm>
            <a:prstGeom prst="ellipse">
              <a:avLst/>
            </a:prstGeom>
            <a:solidFill>
              <a:srgbClr val="F3E8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h1f3510bad6b775e2_3_115"/>
            <p:cNvSpPr txBox="1"/>
            <p:nvPr/>
          </p:nvSpPr>
          <p:spPr>
            <a:xfrm>
              <a:off x="247650" y="304800"/>
              <a:ext cx="190500" cy="247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 i="0" u="none" strike="noStrike">
                  <a:solidFill>
                    <a:srgbClr val="704EA6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sz="1100" b="1" i="0" u="none" strike="noStrike">
                <a:solidFill>
                  <a:srgbClr val="704EA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h1f3510bad6b775e2_3_115"/>
            <p:cNvSpPr txBox="1"/>
            <p:nvPr/>
          </p:nvSpPr>
          <p:spPr>
            <a:xfrm>
              <a:off x="666750" y="152400"/>
              <a:ext cx="5200800" cy="55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Safe Action Sequencing</a:t>
              </a:r>
              <a:endParaRPr sz="1200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lang="en-US" sz="1100" b="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Prioritize non-disruptive steps before critical operations.</a:t>
              </a:r>
              <a:endParaRPr sz="1100" b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2" name="Google Shape;132;h1f3510bad6b775e2_3_115"/>
          <p:cNvGrpSpPr/>
          <p:nvPr/>
        </p:nvGrpSpPr>
        <p:grpSpPr>
          <a:xfrm>
            <a:off x="5334000" y="5314950"/>
            <a:ext cx="6096000" cy="857400"/>
            <a:chOff x="0" y="0"/>
            <a:chExt cx="6096000" cy="857400"/>
          </a:xfrm>
        </p:grpSpPr>
        <p:sp>
          <p:nvSpPr>
            <p:cNvPr id="133" name="Google Shape;133;h1f3510bad6b775e2_3_115"/>
            <p:cNvSpPr/>
            <p:nvPr/>
          </p:nvSpPr>
          <p:spPr>
            <a:xfrm>
              <a:off x="0" y="0"/>
              <a:ext cx="6096000" cy="85740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h1f3510bad6b775e2_3_115"/>
            <p:cNvSpPr/>
            <p:nvPr/>
          </p:nvSpPr>
          <p:spPr>
            <a:xfrm>
              <a:off x="171450" y="257175"/>
              <a:ext cx="342900" cy="342900"/>
            </a:xfrm>
            <a:prstGeom prst="ellipse">
              <a:avLst/>
            </a:prstGeom>
            <a:solidFill>
              <a:srgbClr val="F3E8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h1f3510bad6b775e2_3_115"/>
            <p:cNvSpPr txBox="1"/>
            <p:nvPr/>
          </p:nvSpPr>
          <p:spPr>
            <a:xfrm>
              <a:off x="247650" y="304800"/>
              <a:ext cx="190500" cy="247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 i="0" u="none" strike="noStrike">
                  <a:solidFill>
                    <a:srgbClr val="704EA6"/>
                  </a:solidFill>
                  <a:latin typeface="Arial"/>
                  <a:ea typeface="Arial"/>
                  <a:cs typeface="Arial"/>
                  <a:sym typeface="Arial"/>
                </a:rPr>
                <a:t>05</a:t>
              </a:r>
              <a:endParaRPr sz="1100" b="1" i="0" u="none" strike="noStrike">
                <a:solidFill>
                  <a:srgbClr val="704EA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h1f3510bad6b775e2_3_115"/>
            <p:cNvSpPr txBox="1"/>
            <p:nvPr/>
          </p:nvSpPr>
          <p:spPr>
            <a:xfrm>
              <a:off x="666750" y="152400"/>
              <a:ext cx="5200800" cy="55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Fast Responses</a:t>
              </a:r>
              <a:endParaRPr sz="1200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lang="en-US" sz="1100" b="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Deliver cached troubleshooting plans in under 300 ms.</a:t>
              </a:r>
              <a:endParaRPr sz="1100" b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"/>
          <p:cNvSpPr txBox="1">
            <a:spLocks noGrp="1"/>
          </p:cNvSpPr>
          <p:nvPr>
            <p:ph type="title"/>
          </p:nvPr>
        </p:nvSpPr>
        <p:spPr>
          <a:xfrm>
            <a:off x="762000" y="304800"/>
            <a:ext cx="10668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b="1" i="0" u="none" strike="noStrike">
                <a:solidFill>
                  <a:srgbClr val="704EA6"/>
                </a:solidFill>
                <a:latin typeface="Arial"/>
                <a:ea typeface="Arial"/>
                <a:cs typeface="Arial"/>
                <a:sym typeface="Arial"/>
              </a:rPr>
              <a:t>Existing Solutions &amp; Gaps</a:t>
            </a:r>
            <a:endParaRPr sz="3800" b="1" i="0" u="none" strike="noStrike">
              <a:solidFill>
                <a:srgbClr val="704EA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2" name="Google Shape;142;p3"/>
          <p:cNvGrpSpPr/>
          <p:nvPr/>
        </p:nvGrpSpPr>
        <p:grpSpPr>
          <a:xfrm>
            <a:off x="762000" y="952500"/>
            <a:ext cx="10668000" cy="809700"/>
            <a:chOff x="0" y="0"/>
            <a:chExt cx="10668000" cy="809700"/>
          </a:xfrm>
        </p:grpSpPr>
        <p:sp>
          <p:nvSpPr>
            <p:cNvPr id="143" name="Google Shape;143;p3"/>
            <p:cNvSpPr/>
            <p:nvPr/>
          </p:nvSpPr>
          <p:spPr>
            <a:xfrm>
              <a:off x="0" y="0"/>
              <a:ext cx="10668000" cy="809700"/>
            </a:xfrm>
            <a:prstGeom prst="roundRect">
              <a:avLst>
                <a:gd name="adj" fmla="val 14117"/>
              </a:avLst>
            </a:prstGeom>
            <a:solidFill>
              <a:srgbClr val="F3E8FF"/>
            </a:solidFill>
            <a:ln w="14300" cap="flat" cmpd="sng">
              <a:solidFill>
                <a:srgbClr val="DDD6F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3"/>
            <p:cNvSpPr txBox="1"/>
            <p:nvPr/>
          </p:nvSpPr>
          <p:spPr>
            <a:xfrm>
              <a:off x="228600" y="95250"/>
              <a:ext cx="102108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1">
                  <a:solidFill>
                    <a:srgbClr val="5B21B6"/>
                  </a:solidFill>
                  <a:latin typeface="Arial"/>
                  <a:ea typeface="Arial"/>
                  <a:cs typeface="Arial"/>
                  <a:sym typeface="Arial"/>
                </a:rPr>
                <a:t>THE GAP: </a:t>
              </a:r>
              <a:r>
                <a:rPr lang="en-US" sz="1300" b="0">
                  <a:solidFill>
                    <a:srgbClr val="1E1B4B"/>
                  </a:solidFill>
                  <a:latin typeface="Arial"/>
                  <a:ea typeface="Arial"/>
                  <a:cs typeface="Arial"/>
                  <a:sym typeface="Arial"/>
                </a:rPr>
                <a:t>Users need more than raw information — they need a validated path from </a:t>
              </a:r>
              <a:r>
                <a:rPr lang="en-US" sz="1300" b="1" i="1">
                  <a:solidFill>
                    <a:srgbClr val="6D28D9"/>
                  </a:solidFill>
                  <a:latin typeface="Arial"/>
                  <a:ea typeface="Arial"/>
                  <a:cs typeface="Arial"/>
                  <a:sym typeface="Arial"/>
                </a:rPr>
                <a:t>“Something is wrong”</a:t>
              </a:r>
              <a:r>
                <a:rPr lang="en-US" sz="1300" b="0">
                  <a:solidFill>
                    <a:srgbClr val="1E1B4B"/>
                  </a:solidFill>
                  <a:latin typeface="Arial"/>
                  <a:ea typeface="Arial"/>
                  <a:cs typeface="Arial"/>
                  <a:sym typeface="Arial"/>
                </a:rPr>
                <a:t> → </a:t>
              </a:r>
              <a:r>
                <a:rPr lang="en-US" sz="1300" b="1" i="1">
                  <a:solidFill>
                    <a:srgbClr val="6D28D9"/>
                  </a:solidFill>
                  <a:latin typeface="Arial"/>
                  <a:ea typeface="Arial"/>
                  <a:cs typeface="Arial"/>
                  <a:sym typeface="Arial"/>
                </a:rPr>
                <a:t>“Here is exactly what to do next.”</a:t>
              </a:r>
              <a:endParaRPr sz="1300" b="1">
                <a:solidFill>
                  <a:srgbClr val="5B21B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100" b="0">
                  <a:solidFill>
                    <a:srgbClr val="4C1D95"/>
                  </a:solidFill>
                  <a:latin typeface="Arial"/>
                  <a:ea typeface="Arial"/>
                  <a:cs typeface="Arial"/>
                  <a:sym typeface="Arial"/>
                </a:rPr>
                <a:t>FixPath bridges this gap by combining Natural-Language Understanding, Grounded Troubleshooting, Verified Deeplinks, and Safe Action Sequencing.</a:t>
              </a:r>
              <a:endParaRPr sz="1100" b="0">
                <a:solidFill>
                  <a:srgbClr val="4C1D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5" name="Google Shape;145;p3"/>
          <p:cNvGrpSpPr/>
          <p:nvPr/>
        </p:nvGrpSpPr>
        <p:grpSpPr>
          <a:xfrm>
            <a:off x="762000" y="1905000"/>
            <a:ext cx="6381900" cy="4067175"/>
            <a:chOff x="0" y="0"/>
            <a:chExt cx="6381900" cy="4067175"/>
          </a:xfrm>
        </p:grpSpPr>
        <p:sp>
          <p:nvSpPr>
            <p:cNvPr id="146" name="Google Shape;146;p3"/>
            <p:cNvSpPr txBox="1"/>
            <p:nvPr/>
          </p:nvSpPr>
          <p:spPr>
            <a:xfrm>
              <a:off x="0" y="0"/>
              <a:ext cx="6381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Current Limitations in Existing Solutions</a:t>
              </a:r>
              <a:endParaRPr sz="1400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7" name="Google Shape;147;p3"/>
            <p:cNvGrpSpPr/>
            <p:nvPr/>
          </p:nvGrpSpPr>
          <p:grpSpPr>
            <a:xfrm>
              <a:off x="0" y="333375"/>
              <a:ext cx="6381900" cy="685800"/>
              <a:chOff x="0" y="0"/>
              <a:chExt cx="6381900" cy="685800"/>
            </a:xfrm>
          </p:grpSpPr>
          <p:sp>
            <p:nvSpPr>
              <p:cNvPr id="148" name="Google Shape;148;p3"/>
              <p:cNvSpPr/>
              <p:nvPr/>
            </p:nvSpPr>
            <p:spPr>
              <a:xfrm>
                <a:off x="0" y="0"/>
                <a:ext cx="6381900" cy="685800"/>
              </a:xfrm>
              <a:prstGeom prst="roundRect">
                <a:avLst>
                  <a:gd name="adj" fmla="val 11111"/>
                </a:avLst>
              </a:prstGeom>
              <a:solidFill>
                <a:srgbClr val="F8FAFC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Google Shape;149;p3"/>
              <p:cNvSpPr txBox="1"/>
              <p:nvPr/>
            </p:nvSpPr>
            <p:spPr>
              <a:xfrm>
                <a:off x="152400" y="95250"/>
                <a:ext cx="6077100" cy="49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1">
                    <a:solidFill>
                      <a:srgbClr val="0F172A"/>
                    </a:solidFill>
                    <a:latin typeface="Arial"/>
                    <a:ea typeface="Arial"/>
                    <a:cs typeface="Arial"/>
                    <a:sym typeface="Arial"/>
                  </a:rPr>
                  <a:t>Search Engines</a:t>
                </a:r>
                <a:endParaRPr sz="1200" b="1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-US" sz="1100">
                    <a:solidFill>
                      <a:srgbClr val="64748B"/>
                    </a:solidFill>
                    <a:latin typeface="Arial"/>
                    <a:ea typeface="Arial"/>
                    <a:cs typeface="Arial"/>
                    <a:sym typeface="Arial"/>
                  </a:rPr>
                  <a:t>Returns many unrelated results; user must identify the correct solution manually.</a:t>
                </a:r>
                <a:endParaRPr sz="11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0" name="Google Shape;150;p3"/>
            <p:cNvGrpSpPr/>
            <p:nvPr/>
          </p:nvGrpSpPr>
          <p:grpSpPr>
            <a:xfrm>
              <a:off x="0" y="1095375"/>
              <a:ext cx="6381900" cy="685800"/>
              <a:chOff x="0" y="0"/>
              <a:chExt cx="6381900" cy="685800"/>
            </a:xfrm>
          </p:grpSpPr>
          <p:sp>
            <p:nvSpPr>
              <p:cNvPr id="151" name="Google Shape;151;p3"/>
              <p:cNvSpPr/>
              <p:nvPr/>
            </p:nvSpPr>
            <p:spPr>
              <a:xfrm>
                <a:off x="0" y="0"/>
                <a:ext cx="6381900" cy="685800"/>
              </a:xfrm>
              <a:prstGeom prst="roundRect">
                <a:avLst>
                  <a:gd name="adj" fmla="val 11111"/>
                </a:avLst>
              </a:prstGeom>
              <a:solidFill>
                <a:srgbClr val="F8FAFC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3"/>
              <p:cNvSpPr txBox="1"/>
              <p:nvPr/>
            </p:nvSpPr>
            <p:spPr>
              <a:xfrm>
                <a:off x="152400" y="95250"/>
                <a:ext cx="6077100" cy="49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1">
                    <a:solidFill>
                      <a:srgbClr val="0F172A"/>
                    </a:solidFill>
                    <a:latin typeface="Arial"/>
                    <a:ea typeface="Arial"/>
                    <a:cs typeface="Arial"/>
                    <a:sym typeface="Arial"/>
                  </a:rPr>
                  <a:t>Samsung Support Articles</a:t>
                </a:r>
                <a:endParaRPr sz="1200" b="1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-US" sz="1100">
                    <a:solidFill>
                      <a:srgbClr val="64748B"/>
                    </a:solidFill>
                    <a:latin typeface="Arial"/>
                    <a:ea typeface="Arial"/>
                    <a:cs typeface="Arial"/>
                    <a:sym typeface="Arial"/>
                  </a:rPr>
                  <a:t>Information is reliable but can be lengthy and difficult to follow during an active issue.</a:t>
                </a:r>
                <a:endParaRPr sz="11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3" name="Google Shape;153;p3"/>
            <p:cNvGrpSpPr/>
            <p:nvPr/>
          </p:nvGrpSpPr>
          <p:grpSpPr>
            <a:xfrm>
              <a:off x="0" y="1857375"/>
              <a:ext cx="6381900" cy="685800"/>
              <a:chOff x="0" y="0"/>
              <a:chExt cx="6381900" cy="685800"/>
            </a:xfrm>
          </p:grpSpPr>
          <p:sp>
            <p:nvSpPr>
              <p:cNvPr id="154" name="Google Shape;154;p3"/>
              <p:cNvSpPr/>
              <p:nvPr/>
            </p:nvSpPr>
            <p:spPr>
              <a:xfrm>
                <a:off x="0" y="0"/>
                <a:ext cx="6381900" cy="685800"/>
              </a:xfrm>
              <a:prstGeom prst="roundRect">
                <a:avLst>
                  <a:gd name="adj" fmla="val 11111"/>
                </a:avLst>
              </a:prstGeom>
              <a:solidFill>
                <a:srgbClr val="F8FAFC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3"/>
              <p:cNvSpPr txBox="1"/>
              <p:nvPr/>
            </p:nvSpPr>
            <p:spPr>
              <a:xfrm>
                <a:off x="152400" y="95250"/>
                <a:ext cx="6077100" cy="49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1">
                    <a:solidFill>
                      <a:srgbClr val="0F172A"/>
                    </a:solidFill>
                    <a:latin typeface="Arial"/>
                    <a:ea typeface="Arial"/>
                    <a:cs typeface="Arial"/>
                    <a:sym typeface="Arial"/>
                  </a:rPr>
                  <a:t>Generic AI Assistants</a:t>
                </a:r>
                <a:endParaRPr sz="1200" b="1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-US" sz="1100">
                    <a:solidFill>
                      <a:srgbClr val="64748B"/>
                    </a:solidFill>
                    <a:latin typeface="Arial"/>
                    <a:ea typeface="Arial"/>
                    <a:cs typeface="Arial"/>
                    <a:sym typeface="Arial"/>
                  </a:rPr>
                  <a:t>Can provide useful explanations but may generate unsupported or hallucinated steps.</a:t>
                </a:r>
                <a:endParaRPr sz="11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6" name="Google Shape;156;p3"/>
            <p:cNvGrpSpPr/>
            <p:nvPr/>
          </p:nvGrpSpPr>
          <p:grpSpPr>
            <a:xfrm>
              <a:off x="0" y="2619375"/>
              <a:ext cx="6381900" cy="685800"/>
              <a:chOff x="0" y="0"/>
              <a:chExt cx="6381900" cy="685800"/>
            </a:xfrm>
          </p:grpSpPr>
          <p:sp>
            <p:nvSpPr>
              <p:cNvPr id="157" name="Google Shape;157;p3"/>
              <p:cNvSpPr/>
              <p:nvPr/>
            </p:nvSpPr>
            <p:spPr>
              <a:xfrm>
                <a:off x="0" y="0"/>
                <a:ext cx="6381900" cy="685800"/>
              </a:xfrm>
              <a:prstGeom prst="roundRect">
                <a:avLst>
                  <a:gd name="adj" fmla="val 11111"/>
                </a:avLst>
              </a:prstGeom>
              <a:solidFill>
                <a:srgbClr val="F8FAFC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58;p3"/>
              <p:cNvSpPr txBox="1"/>
              <p:nvPr/>
            </p:nvSpPr>
            <p:spPr>
              <a:xfrm>
                <a:off x="152400" y="95250"/>
                <a:ext cx="6077100" cy="49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1">
                    <a:solidFill>
                      <a:srgbClr val="0F172A"/>
                    </a:solidFill>
                    <a:latin typeface="Arial"/>
                    <a:ea typeface="Arial"/>
                    <a:cs typeface="Arial"/>
                    <a:sym typeface="Arial"/>
                  </a:rPr>
                  <a:t>Manual Device Navigation</a:t>
                </a:r>
                <a:endParaRPr sz="1200" b="1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-US" sz="1100">
                    <a:solidFill>
                      <a:srgbClr val="64748B"/>
                    </a:solidFill>
                    <a:latin typeface="Arial"/>
                    <a:ea typeface="Arial"/>
                    <a:cs typeface="Arial"/>
                    <a:sym typeface="Arial"/>
                  </a:rPr>
                  <a:t>Users must search through multiple complex settings menus on their own.</a:t>
                </a:r>
                <a:endParaRPr sz="11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9" name="Google Shape;159;p3"/>
            <p:cNvGrpSpPr/>
            <p:nvPr/>
          </p:nvGrpSpPr>
          <p:grpSpPr>
            <a:xfrm>
              <a:off x="0" y="3381375"/>
              <a:ext cx="6381900" cy="685800"/>
              <a:chOff x="0" y="0"/>
              <a:chExt cx="6381900" cy="685800"/>
            </a:xfrm>
          </p:grpSpPr>
          <p:sp>
            <p:nvSpPr>
              <p:cNvPr id="160" name="Google Shape;160;p3"/>
              <p:cNvSpPr/>
              <p:nvPr/>
            </p:nvSpPr>
            <p:spPr>
              <a:xfrm>
                <a:off x="0" y="0"/>
                <a:ext cx="6381900" cy="685800"/>
              </a:xfrm>
              <a:prstGeom prst="roundRect">
                <a:avLst>
                  <a:gd name="adj" fmla="val 11111"/>
                </a:avLst>
              </a:prstGeom>
              <a:solidFill>
                <a:srgbClr val="F8FAFC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3"/>
              <p:cNvSpPr txBox="1"/>
              <p:nvPr/>
            </p:nvSpPr>
            <p:spPr>
              <a:xfrm>
                <a:off x="152400" y="95250"/>
                <a:ext cx="6077100" cy="49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1">
                    <a:solidFill>
                      <a:srgbClr val="0F172A"/>
                    </a:solidFill>
                    <a:latin typeface="Arial"/>
                    <a:ea typeface="Arial"/>
                    <a:cs typeface="Arial"/>
                    <a:sym typeface="Arial"/>
                  </a:rPr>
                  <a:t>Traditional Troubleshooting</a:t>
                </a:r>
                <a:endParaRPr sz="1200" b="1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-US" sz="1100">
                    <a:solidFill>
                      <a:srgbClr val="64748B"/>
                    </a:solidFill>
                    <a:latin typeface="Arial"/>
                    <a:ea typeface="Arial"/>
                    <a:cs typeface="Arial"/>
                    <a:sym typeface="Arial"/>
                  </a:rPr>
                  <a:t>Often presents rigid steps without adapting to the user's specific context or complaint.</a:t>
                </a:r>
                <a:endParaRPr sz="11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62" name="Google Shape;162;p3"/>
          <p:cNvGrpSpPr/>
          <p:nvPr/>
        </p:nvGrpSpPr>
        <p:grpSpPr>
          <a:xfrm>
            <a:off x="7429500" y="1905000"/>
            <a:ext cx="4000500" cy="4067250"/>
            <a:chOff x="0" y="0"/>
            <a:chExt cx="4000500" cy="4067250"/>
          </a:xfrm>
        </p:grpSpPr>
        <p:sp>
          <p:nvSpPr>
            <p:cNvPr id="163" name="Google Shape;163;p3"/>
            <p:cNvSpPr txBox="1"/>
            <p:nvPr/>
          </p:nvSpPr>
          <p:spPr>
            <a:xfrm>
              <a:off x="0" y="0"/>
              <a:ext cx="4000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Experience Comparison</a:t>
              </a:r>
              <a:endParaRPr sz="1400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4" name="Google Shape;164;p3"/>
            <p:cNvGrpSpPr/>
            <p:nvPr/>
          </p:nvGrpSpPr>
          <p:grpSpPr>
            <a:xfrm>
              <a:off x="0" y="333375"/>
              <a:ext cx="4000500" cy="1714500"/>
              <a:chOff x="0" y="0"/>
              <a:chExt cx="4000500" cy="1714500"/>
            </a:xfrm>
          </p:grpSpPr>
          <p:sp>
            <p:nvSpPr>
              <p:cNvPr id="165" name="Google Shape;165;p3"/>
              <p:cNvSpPr/>
              <p:nvPr/>
            </p:nvSpPr>
            <p:spPr>
              <a:xfrm>
                <a:off x="0" y="0"/>
                <a:ext cx="4000500" cy="1714500"/>
              </a:xfrm>
              <a:prstGeom prst="roundRect">
                <a:avLst>
                  <a:gd name="adj" fmla="val 5555"/>
                </a:avLst>
              </a:prstGeom>
              <a:solidFill>
                <a:srgbClr val="F1F5F9"/>
              </a:solidFill>
              <a:ln w="9525" cap="flat" cmpd="sng">
                <a:solidFill>
                  <a:srgbClr val="CBD5E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3"/>
              <p:cNvSpPr txBox="1"/>
              <p:nvPr/>
            </p:nvSpPr>
            <p:spPr>
              <a:xfrm>
                <a:off x="190500" y="152400"/>
                <a:ext cx="3619500" cy="14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1">
                    <a:solidFill>
                      <a:srgbClr val="334155"/>
                    </a:solidFill>
                    <a:latin typeface="Arial"/>
                    <a:ea typeface="Arial"/>
                    <a:cs typeface="Arial"/>
                    <a:sym typeface="Arial"/>
                  </a:rPr>
                  <a:t>Traditional Support Flow</a:t>
                </a:r>
                <a:endParaRPr sz="1200" b="1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US" sz="1000" b="1">
                    <a:solidFill>
                      <a:srgbClr val="64748B"/>
                    </a:solidFill>
                    <a:latin typeface="Arial"/>
                    <a:ea typeface="Arial"/>
                    <a:cs typeface="Arial"/>
                    <a:sym typeface="Arial"/>
                  </a:rPr>
                  <a:t>EXAMPLE COMPLAINT:</a:t>
                </a:r>
                <a:endParaRPr sz="1000" b="1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i="1">
                    <a:solidFill>
                      <a:srgbClr val="475569"/>
                    </a:solidFill>
                    <a:latin typeface="Arial"/>
                    <a:ea typeface="Arial"/>
                    <a:cs typeface="Arial"/>
                    <a:sym typeface="Arial"/>
                  </a:rPr>
                  <a:t>“My phone screen suddenly went completely black.”</a:t>
                </a:r>
                <a:endParaRPr sz="1000" i="1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lang="en-US" sz="1000" b="1">
                    <a:solidFill>
                      <a:srgbClr val="334155"/>
                    </a:solidFill>
                    <a:latin typeface="Arial"/>
                    <a:ea typeface="Arial"/>
                    <a:cs typeface="Arial"/>
                    <a:sym typeface="Arial"/>
                  </a:rPr>
                  <a:t>Search → Articles → Read → Find Section → Manual Settings</a:t>
                </a:r>
                <a:endParaRPr sz="1000" b="1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7" name="Google Shape;167;p3"/>
            <p:cNvGrpSpPr/>
            <p:nvPr/>
          </p:nvGrpSpPr>
          <p:grpSpPr>
            <a:xfrm>
              <a:off x="0" y="2190750"/>
              <a:ext cx="4000500" cy="1876500"/>
              <a:chOff x="0" y="0"/>
              <a:chExt cx="4000500" cy="1876500"/>
            </a:xfrm>
          </p:grpSpPr>
          <p:sp>
            <p:nvSpPr>
              <p:cNvPr id="168" name="Google Shape;168;p3"/>
              <p:cNvSpPr/>
              <p:nvPr/>
            </p:nvSpPr>
            <p:spPr>
              <a:xfrm>
                <a:off x="0" y="0"/>
                <a:ext cx="4000500" cy="1876500"/>
              </a:xfrm>
              <a:prstGeom prst="roundRect">
                <a:avLst>
                  <a:gd name="adj" fmla="val 5075"/>
                </a:avLst>
              </a:prstGeom>
              <a:solidFill>
                <a:srgbClr val="704EA6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Google Shape;169;p3"/>
              <p:cNvSpPr txBox="1"/>
              <p:nvPr/>
            </p:nvSpPr>
            <p:spPr>
              <a:xfrm>
                <a:off x="190500" y="152400"/>
                <a:ext cx="3619500" cy="157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00" b="1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★ FixPath Streamlined Path</a:t>
                </a:r>
                <a:endParaRPr sz="13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US" sz="1000" b="1">
                    <a:solidFill>
                      <a:srgbClr val="DDD6FE"/>
                    </a:solidFill>
                    <a:latin typeface="Arial"/>
                    <a:ea typeface="Arial"/>
                    <a:cs typeface="Arial"/>
                    <a:sym typeface="Arial"/>
                  </a:rPr>
                  <a:t>ACTIONABLE RESOLUTION:</a:t>
                </a:r>
                <a:endParaRPr sz="1000" b="1">
                  <a:solidFill>
                    <a:srgbClr val="DDD6FE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i="1">
                    <a:solidFill>
                      <a:srgbClr val="F3E8FF"/>
                    </a:solidFill>
                    <a:latin typeface="Arial"/>
                    <a:ea typeface="Arial"/>
                    <a:cs typeface="Arial"/>
                    <a:sym typeface="Arial"/>
                  </a:rPr>
                  <a:t>Direct, validated diagnosis and guided step execution</a:t>
                </a:r>
                <a:endParaRPr sz="1000" i="1">
                  <a:solidFill>
                    <a:srgbClr val="F3E8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lang="en-US" sz="1050" b="1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Complaint → Understand → Diagnose → Guided Actions → Result</a:t>
                </a:r>
                <a:endParaRPr sz="105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"/>
          <p:cNvSpPr txBox="1">
            <a:spLocks noGrp="1"/>
          </p:cNvSpPr>
          <p:nvPr>
            <p:ph type="title"/>
          </p:nvPr>
        </p:nvSpPr>
        <p:spPr>
          <a:xfrm>
            <a:off x="762000" y="304800"/>
            <a:ext cx="10668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b="1">
                <a:solidFill>
                  <a:srgbClr val="704EA6"/>
                </a:solidFill>
                <a:latin typeface="Arial"/>
                <a:ea typeface="Arial"/>
                <a:cs typeface="Arial"/>
                <a:sym typeface="Arial"/>
              </a:rPr>
              <a:t>Our Solutions &amp; Architecture Diagram</a:t>
            </a:r>
            <a:endParaRPr sz="3800" b="1">
              <a:solidFill>
                <a:srgbClr val="704EA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4"/>
          <p:cNvSpPr txBox="1"/>
          <p:nvPr/>
        </p:nvSpPr>
        <p:spPr>
          <a:xfrm>
            <a:off x="762000" y="971550"/>
            <a:ext cx="39054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Core Pipeline</a:t>
            </a:r>
            <a:endParaRPr sz="1400" b="1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6" name="Google Shape;176;p4"/>
          <p:cNvGrpSpPr/>
          <p:nvPr/>
        </p:nvGrpSpPr>
        <p:grpSpPr>
          <a:xfrm>
            <a:off x="762000" y="1314450"/>
            <a:ext cx="3905400" cy="628800"/>
            <a:chOff x="0" y="0"/>
            <a:chExt cx="3905400" cy="628800"/>
          </a:xfrm>
        </p:grpSpPr>
        <p:sp>
          <p:nvSpPr>
            <p:cNvPr id="177" name="Google Shape;177;p4"/>
            <p:cNvSpPr/>
            <p:nvPr/>
          </p:nvSpPr>
          <p:spPr>
            <a:xfrm>
              <a:off x="0" y="0"/>
              <a:ext cx="3905400" cy="628800"/>
            </a:xfrm>
            <a:prstGeom prst="roundRect">
              <a:avLst>
                <a:gd name="adj" fmla="val 12121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4"/>
            <p:cNvSpPr/>
            <p:nvPr/>
          </p:nvSpPr>
          <p:spPr>
            <a:xfrm>
              <a:off x="152400" y="180975"/>
              <a:ext cx="266700" cy="266700"/>
            </a:xfrm>
            <a:prstGeom prst="ellipse">
              <a:avLst/>
            </a:prstGeom>
            <a:solidFill>
              <a:srgbClr val="F3E8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4"/>
            <p:cNvSpPr txBox="1"/>
            <p:nvPr/>
          </p:nvSpPr>
          <p:spPr>
            <a:xfrm>
              <a:off x="114300" y="142875"/>
              <a:ext cx="2667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>
                  <a:solidFill>
                    <a:srgbClr val="704EA6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 sz="1000" b="1">
                <a:solidFill>
                  <a:srgbClr val="704EA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4"/>
            <p:cNvSpPr txBox="1"/>
            <p:nvPr/>
          </p:nvSpPr>
          <p:spPr>
            <a:xfrm>
              <a:off x="457200" y="57150"/>
              <a:ext cx="3333900" cy="51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Input</a:t>
              </a:r>
              <a:endParaRPr sz="1100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US" sz="950" b="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User describes the problem using text or voice.</a:t>
              </a:r>
              <a:endParaRPr sz="950" b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1" name="Google Shape;181;p4"/>
          <p:cNvGrpSpPr/>
          <p:nvPr/>
        </p:nvGrpSpPr>
        <p:grpSpPr>
          <a:xfrm>
            <a:off x="762000" y="2019300"/>
            <a:ext cx="3905400" cy="628800"/>
            <a:chOff x="0" y="0"/>
            <a:chExt cx="3905400" cy="628800"/>
          </a:xfrm>
        </p:grpSpPr>
        <p:sp>
          <p:nvSpPr>
            <p:cNvPr id="182" name="Google Shape;182;p4"/>
            <p:cNvSpPr/>
            <p:nvPr/>
          </p:nvSpPr>
          <p:spPr>
            <a:xfrm>
              <a:off x="0" y="0"/>
              <a:ext cx="3905400" cy="628800"/>
            </a:xfrm>
            <a:prstGeom prst="roundRect">
              <a:avLst>
                <a:gd name="adj" fmla="val 12121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4"/>
            <p:cNvSpPr/>
            <p:nvPr/>
          </p:nvSpPr>
          <p:spPr>
            <a:xfrm>
              <a:off x="152400" y="180975"/>
              <a:ext cx="266700" cy="266700"/>
            </a:xfrm>
            <a:prstGeom prst="ellipse">
              <a:avLst/>
            </a:prstGeom>
            <a:solidFill>
              <a:srgbClr val="F3E8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4"/>
            <p:cNvSpPr txBox="1"/>
            <p:nvPr/>
          </p:nvSpPr>
          <p:spPr>
            <a:xfrm>
              <a:off x="114300" y="142875"/>
              <a:ext cx="2667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>
                  <a:solidFill>
                    <a:srgbClr val="704EA6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  <a:endParaRPr sz="1000" b="1">
                <a:solidFill>
                  <a:srgbClr val="704EA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4"/>
            <p:cNvSpPr txBox="1"/>
            <p:nvPr/>
          </p:nvSpPr>
          <p:spPr>
            <a:xfrm>
              <a:off x="457200" y="57150"/>
              <a:ext cx="3333900" cy="51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Understanding</a:t>
              </a:r>
              <a:endParaRPr sz="1100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US" sz="950" b="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The complaint is normalized into a structured technical query.</a:t>
              </a:r>
              <a:endParaRPr sz="950" b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6" name="Google Shape;186;p4"/>
          <p:cNvGrpSpPr/>
          <p:nvPr/>
        </p:nvGrpSpPr>
        <p:grpSpPr>
          <a:xfrm>
            <a:off x="762000" y="2724150"/>
            <a:ext cx="3905400" cy="628800"/>
            <a:chOff x="0" y="0"/>
            <a:chExt cx="3905400" cy="628800"/>
          </a:xfrm>
        </p:grpSpPr>
        <p:sp>
          <p:nvSpPr>
            <p:cNvPr id="187" name="Google Shape;187;p4"/>
            <p:cNvSpPr/>
            <p:nvPr/>
          </p:nvSpPr>
          <p:spPr>
            <a:xfrm>
              <a:off x="0" y="0"/>
              <a:ext cx="3905400" cy="628800"/>
            </a:xfrm>
            <a:prstGeom prst="roundRect">
              <a:avLst>
                <a:gd name="adj" fmla="val 12121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4"/>
            <p:cNvSpPr/>
            <p:nvPr/>
          </p:nvSpPr>
          <p:spPr>
            <a:xfrm>
              <a:off x="152400" y="180975"/>
              <a:ext cx="266700" cy="266700"/>
            </a:xfrm>
            <a:prstGeom prst="ellipse">
              <a:avLst/>
            </a:prstGeom>
            <a:solidFill>
              <a:srgbClr val="F3E8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4"/>
            <p:cNvSpPr txBox="1"/>
            <p:nvPr/>
          </p:nvSpPr>
          <p:spPr>
            <a:xfrm>
              <a:off x="114300" y="142875"/>
              <a:ext cx="2667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>
                  <a:solidFill>
                    <a:srgbClr val="704EA6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 sz="1000" b="1">
                <a:solidFill>
                  <a:srgbClr val="704EA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4"/>
            <p:cNvSpPr txBox="1"/>
            <p:nvPr/>
          </p:nvSpPr>
          <p:spPr>
            <a:xfrm>
              <a:off x="457200" y="57150"/>
              <a:ext cx="3333900" cy="51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Retrieval</a:t>
              </a:r>
              <a:endParaRPr sz="1100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US" sz="950" b="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Hybrid retrieval identifies relevant reference info &amp; actions.</a:t>
              </a:r>
              <a:endParaRPr sz="950" b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1" name="Google Shape;191;p4"/>
          <p:cNvGrpSpPr/>
          <p:nvPr/>
        </p:nvGrpSpPr>
        <p:grpSpPr>
          <a:xfrm>
            <a:off x="762000" y="3429000"/>
            <a:ext cx="3905400" cy="628800"/>
            <a:chOff x="0" y="0"/>
            <a:chExt cx="3905400" cy="628800"/>
          </a:xfrm>
        </p:grpSpPr>
        <p:sp>
          <p:nvSpPr>
            <p:cNvPr id="192" name="Google Shape;192;p4"/>
            <p:cNvSpPr/>
            <p:nvPr/>
          </p:nvSpPr>
          <p:spPr>
            <a:xfrm>
              <a:off x="0" y="0"/>
              <a:ext cx="3905400" cy="628800"/>
            </a:xfrm>
            <a:prstGeom prst="roundRect">
              <a:avLst>
                <a:gd name="adj" fmla="val 12121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4"/>
            <p:cNvSpPr/>
            <p:nvPr/>
          </p:nvSpPr>
          <p:spPr>
            <a:xfrm>
              <a:off x="152400" y="180975"/>
              <a:ext cx="266700" cy="266700"/>
            </a:xfrm>
            <a:prstGeom prst="ellipse">
              <a:avLst/>
            </a:prstGeom>
            <a:solidFill>
              <a:srgbClr val="F3E8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4"/>
            <p:cNvSpPr txBox="1"/>
            <p:nvPr/>
          </p:nvSpPr>
          <p:spPr>
            <a:xfrm>
              <a:off x="114300" y="142875"/>
              <a:ext cx="2667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>
                  <a:solidFill>
                    <a:srgbClr val="704EA6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sz="1000" b="1">
                <a:solidFill>
                  <a:srgbClr val="704EA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4"/>
            <p:cNvSpPr txBox="1"/>
            <p:nvPr/>
          </p:nvSpPr>
          <p:spPr>
            <a:xfrm>
              <a:off x="457200" y="57150"/>
              <a:ext cx="3333900" cy="51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Planning</a:t>
              </a:r>
              <a:endParaRPr sz="1100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US" sz="950" b="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Instructions are converted into an ordered troubleshooting plan.</a:t>
              </a:r>
              <a:endParaRPr sz="950" b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6" name="Google Shape;196;p4"/>
          <p:cNvGrpSpPr/>
          <p:nvPr/>
        </p:nvGrpSpPr>
        <p:grpSpPr>
          <a:xfrm>
            <a:off x="762000" y="4133850"/>
            <a:ext cx="3905400" cy="628800"/>
            <a:chOff x="0" y="0"/>
            <a:chExt cx="3905400" cy="628800"/>
          </a:xfrm>
        </p:grpSpPr>
        <p:sp>
          <p:nvSpPr>
            <p:cNvPr id="197" name="Google Shape;197;p4"/>
            <p:cNvSpPr/>
            <p:nvPr/>
          </p:nvSpPr>
          <p:spPr>
            <a:xfrm>
              <a:off x="0" y="0"/>
              <a:ext cx="3905400" cy="628800"/>
            </a:xfrm>
            <a:prstGeom prst="roundRect">
              <a:avLst>
                <a:gd name="adj" fmla="val 12121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4"/>
            <p:cNvSpPr/>
            <p:nvPr/>
          </p:nvSpPr>
          <p:spPr>
            <a:xfrm>
              <a:off x="152400" y="180975"/>
              <a:ext cx="266700" cy="266700"/>
            </a:xfrm>
            <a:prstGeom prst="ellipse">
              <a:avLst/>
            </a:prstGeom>
            <a:solidFill>
              <a:srgbClr val="F3E8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4"/>
            <p:cNvSpPr txBox="1"/>
            <p:nvPr/>
          </p:nvSpPr>
          <p:spPr>
            <a:xfrm>
              <a:off x="114300" y="142875"/>
              <a:ext cx="2667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>
                  <a:solidFill>
                    <a:srgbClr val="704EA6"/>
                  </a:solidFill>
                  <a:latin typeface="Arial"/>
                  <a:ea typeface="Arial"/>
                  <a:cs typeface="Arial"/>
                  <a:sym typeface="Arial"/>
                </a:rPr>
                <a:t>05</a:t>
              </a:r>
              <a:endParaRPr sz="1000" b="1">
                <a:solidFill>
                  <a:srgbClr val="704EA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4"/>
            <p:cNvSpPr txBox="1"/>
            <p:nvPr/>
          </p:nvSpPr>
          <p:spPr>
            <a:xfrm>
              <a:off x="457200" y="57150"/>
              <a:ext cx="3333900" cy="51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Validation</a:t>
              </a:r>
              <a:endParaRPr sz="1100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US" sz="950" b="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Output is checked against predefined schema &amp; deeplinks.</a:t>
              </a:r>
              <a:endParaRPr sz="950" b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1" name="Google Shape;201;p4"/>
          <p:cNvGrpSpPr/>
          <p:nvPr/>
        </p:nvGrpSpPr>
        <p:grpSpPr>
          <a:xfrm>
            <a:off x="762000" y="4838700"/>
            <a:ext cx="3905400" cy="628800"/>
            <a:chOff x="0" y="0"/>
            <a:chExt cx="3905400" cy="628800"/>
          </a:xfrm>
        </p:grpSpPr>
        <p:sp>
          <p:nvSpPr>
            <p:cNvPr id="202" name="Google Shape;202;p4"/>
            <p:cNvSpPr/>
            <p:nvPr/>
          </p:nvSpPr>
          <p:spPr>
            <a:xfrm>
              <a:off x="0" y="0"/>
              <a:ext cx="3905400" cy="628800"/>
            </a:xfrm>
            <a:prstGeom prst="roundRect">
              <a:avLst>
                <a:gd name="adj" fmla="val 12121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4"/>
            <p:cNvSpPr/>
            <p:nvPr/>
          </p:nvSpPr>
          <p:spPr>
            <a:xfrm>
              <a:off x="152400" y="180975"/>
              <a:ext cx="266700" cy="266700"/>
            </a:xfrm>
            <a:prstGeom prst="ellipse">
              <a:avLst/>
            </a:prstGeom>
            <a:solidFill>
              <a:srgbClr val="F3E8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4"/>
            <p:cNvSpPr txBox="1"/>
            <p:nvPr/>
          </p:nvSpPr>
          <p:spPr>
            <a:xfrm>
              <a:off x="114300" y="142875"/>
              <a:ext cx="2667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>
                  <a:solidFill>
                    <a:srgbClr val="704EA6"/>
                  </a:solidFill>
                  <a:latin typeface="Arial"/>
                  <a:ea typeface="Arial"/>
                  <a:cs typeface="Arial"/>
                  <a:sym typeface="Arial"/>
                </a:rPr>
                <a:t>06</a:t>
              </a:r>
              <a:endParaRPr sz="1000" b="1">
                <a:solidFill>
                  <a:srgbClr val="704EA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4"/>
            <p:cNvSpPr txBox="1"/>
            <p:nvPr/>
          </p:nvSpPr>
          <p:spPr>
            <a:xfrm>
              <a:off x="457200" y="57150"/>
              <a:ext cx="3333900" cy="51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Guidance</a:t>
              </a:r>
              <a:endParaRPr sz="1100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US" sz="950" b="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User receives safe, step-by-step troubleshooting instructions.</a:t>
              </a:r>
              <a:endParaRPr sz="950" b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6" name="Google Shape;206;p4"/>
          <p:cNvGrpSpPr/>
          <p:nvPr/>
        </p:nvGrpSpPr>
        <p:grpSpPr>
          <a:xfrm>
            <a:off x="4905375" y="1112350"/>
            <a:ext cx="6524700" cy="3429000"/>
            <a:chOff x="0" y="0"/>
            <a:chExt cx="6524700" cy="3429000"/>
          </a:xfrm>
        </p:grpSpPr>
        <p:sp>
          <p:nvSpPr>
            <p:cNvPr id="207" name="Google Shape;207;p4"/>
            <p:cNvSpPr/>
            <p:nvPr/>
          </p:nvSpPr>
          <p:spPr>
            <a:xfrm>
              <a:off x="0" y="0"/>
              <a:ext cx="6524700" cy="3429000"/>
            </a:xfrm>
            <a:prstGeom prst="roundRect">
              <a:avLst>
                <a:gd name="adj" fmla="val 3333"/>
              </a:avLst>
            </a:prstGeom>
            <a:solidFill>
              <a:srgbClr val="FFFFFF"/>
            </a:solidFill>
            <a:ln w="14300" cap="flat" cmpd="sng">
              <a:solidFill>
                <a:srgbClr val="DDD6F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08" name="Google Shape;208;p4"/>
            <p:cNvPicPr preferRelativeResize="0"/>
            <p:nvPr/>
          </p:nvPicPr>
          <p:blipFill rotWithShape="1">
            <a:blip r:embed="rId3">
              <a:alphaModFix/>
            </a:blip>
            <a:srcRect l="5301" r="5301"/>
            <a:stretch/>
          </p:blipFill>
          <p:spPr>
            <a:xfrm>
              <a:off x="95250" y="95250"/>
              <a:ext cx="6334200" cy="3238500"/>
            </a:xfrm>
            <a:prstGeom prst="roundRect">
              <a:avLst>
                <a:gd name="adj" fmla="val 2352"/>
              </a:avLst>
            </a:prstGeom>
            <a:noFill/>
            <a:ln>
              <a:noFill/>
            </a:ln>
          </p:spPr>
        </p:pic>
      </p:grpSp>
      <p:grpSp>
        <p:nvGrpSpPr>
          <p:cNvPr id="209" name="Google Shape;209;p4"/>
          <p:cNvGrpSpPr/>
          <p:nvPr/>
        </p:nvGrpSpPr>
        <p:grpSpPr>
          <a:xfrm>
            <a:off x="4905375" y="4666950"/>
            <a:ext cx="6524700" cy="933600"/>
            <a:chOff x="0" y="0"/>
            <a:chExt cx="6524700" cy="933600"/>
          </a:xfrm>
        </p:grpSpPr>
        <p:sp>
          <p:nvSpPr>
            <p:cNvPr id="210" name="Google Shape;210;p4"/>
            <p:cNvSpPr/>
            <p:nvPr/>
          </p:nvSpPr>
          <p:spPr>
            <a:xfrm>
              <a:off x="0" y="0"/>
              <a:ext cx="6524700" cy="933600"/>
            </a:xfrm>
            <a:prstGeom prst="roundRect">
              <a:avLst>
                <a:gd name="adj" fmla="val 12244"/>
              </a:avLst>
            </a:prstGeom>
            <a:solidFill>
              <a:srgbClr val="F3E8FF"/>
            </a:solidFill>
            <a:ln w="14300" cap="flat" cmpd="sng">
              <a:solidFill>
                <a:srgbClr val="DDD6F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4"/>
            <p:cNvSpPr txBox="1"/>
            <p:nvPr/>
          </p:nvSpPr>
          <p:spPr>
            <a:xfrm>
              <a:off x="190500" y="114300"/>
              <a:ext cx="6143700" cy="70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rgbClr val="5B21B6"/>
                  </a:solidFill>
                  <a:latin typeface="Arial"/>
                  <a:ea typeface="Arial"/>
                  <a:cs typeface="Arial"/>
                  <a:sym typeface="Arial"/>
                </a:rPr>
                <a:t>Reference-grounded • Validated • Deterministic • Fast</a:t>
              </a:r>
              <a:endParaRPr sz="1200" b="1">
                <a:solidFill>
                  <a:srgbClr val="5B21B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050" b="0">
                  <a:solidFill>
                    <a:srgbClr val="4C1D95"/>
                  </a:solidFill>
                  <a:latin typeface="Arial"/>
                  <a:ea typeface="Arial"/>
                  <a:cs typeface="Arial"/>
                  <a:sym typeface="Arial"/>
                </a:rPr>
                <a:t>This is consistent with your existing architecture/technical description, including hybrid retrieval, semantic caching, rule-based extraction and validation.</a:t>
              </a:r>
              <a:endParaRPr sz="1050" b="0">
                <a:solidFill>
                  <a:srgbClr val="4C1D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5"/>
          <p:cNvSpPr txBox="1"/>
          <p:nvPr/>
        </p:nvSpPr>
        <p:spPr>
          <a:xfrm>
            <a:off x="762000" y="304800"/>
            <a:ext cx="106680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60" b="1">
                <a:solidFill>
                  <a:srgbClr val="704EA6"/>
                </a:solidFill>
                <a:latin typeface="Arial"/>
                <a:ea typeface="Arial"/>
                <a:cs typeface="Arial"/>
                <a:sym typeface="Arial"/>
              </a:rPr>
              <a:t>Demo &amp; Product Walkthrough</a:t>
            </a:r>
            <a:endParaRPr sz="3060" b="1">
              <a:solidFill>
                <a:srgbClr val="704EA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7" name="Google Shape;217;p5"/>
          <p:cNvGrpSpPr/>
          <p:nvPr/>
        </p:nvGrpSpPr>
        <p:grpSpPr>
          <a:xfrm>
            <a:off x="762000" y="876300"/>
            <a:ext cx="10668000" cy="438300"/>
            <a:chOff x="0" y="0"/>
            <a:chExt cx="10668000" cy="438300"/>
          </a:xfrm>
        </p:grpSpPr>
        <p:sp>
          <p:nvSpPr>
            <p:cNvPr id="218" name="Google Shape;218;p5"/>
            <p:cNvSpPr/>
            <p:nvPr/>
          </p:nvSpPr>
          <p:spPr>
            <a:xfrm>
              <a:off x="0" y="0"/>
              <a:ext cx="10668000" cy="438300"/>
            </a:xfrm>
            <a:prstGeom prst="roundRect">
              <a:avLst>
                <a:gd name="adj" fmla="val 17391"/>
              </a:avLst>
            </a:prstGeom>
            <a:solidFill>
              <a:srgbClr val="F3E8FF"/>
            </a:solidFill>
            <a:ln w="14300" cap="flat" cmpd="sng">
              <a:solidFill>
                <a:srgbClr val="DDD6F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5"/>
            <p:cNvSpPr txBox="1"/>
            <p:nvPr/>
          </p:nvSpPr>
          <p:spPr>
            <a:xfrm>
              <a:off x="190500" y="0"/>
              <a:ext cx="10287000" cy="438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5B21B6"/>
                  </a:solidFill>
                  <a:latin typeface="Arial"/>
                  <a:ea typeface="Arial"/>
                  <a:cs typeface="Arial"/>
                  <a:sym typeface="Arial"/>
                </a:rPr>
                <a:t>DEMO SCENARIO:</a:t>
              </a:r>
              <a:r>
                <a:rPr lang="en-US" sz="1100">
                  <a:solidFill>
                    <a:srgbClr val="5B21B6"/>
                  </a:solidFill>
                  <a:latin typeface="Arial"/>
                  <a:ea typeface="Arial"/>
                  <a:cs typeface="Arial"/>
                  <a:sym typeface="Arial"/>
                </a:rPr>
                <a:t> Blank / Black Screen Resolution </a:t>
              </a:r>
              <a:r>
                <a:rPr lang="en-US" sz="1100" b="0">
                  <a:solidFill>
                    <a:srgbClr val="6D28D9"/>
                  </a:solidFill>
                  <a:latin typeface="Arial"/>
                  <a:ea typeface="Arial"/>
                  <a:cs typeface="Arial"/>
                  <a:sym typeface="Arial"/>
                </a:rPr>
                <a:t>—“My Samsung phone screen is completely black.”</a:t>
              </a:r>
              <a:endParaRPr sz="1100">
                <a:solidFill>
                  <a:srgbClr val="5B21B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0" name="Google Shape;220;p5"/>
          <p:cNvGrpSpPr/>
          <p:nvPr/>
        </p:nvGrpSpPr>
        <p:grpSpPr>
          <a:xfrm>
            <a:off x="762000" y="1466850"/>
            <a:ext cx="3905400" cy="3810000"/>
            <a:chOff x="0" y="0"/>
            <a:chExt cx="3905400" cy="3810000"/>
          </a:xfrm>
        </p:grpSpPr>
        <p:grpSp>
          <p:nvGrpSpPr>
            <p:cNvPr id="221" name="Google Shape;221;p5"/>
            <p:cNvGrpSpPr/>
            <p:nvPr/>
          </p:nvGrpSpPr>
          <p:grpSpPr>
            <a:xfrm>
              <a:off x="0" y="0"/>
              <a:ext cx="3905400" cy="685800"/>
              <a:chOff x="0" y="0"/>
              <a:chExt cx="3905400" cy="685800"/>
            </a:xfrm>
          </p:grpSpPr>
          <p:sp>
            <p:nvSpPr>
              <p:cNvPr id="222" name="Google Shape;222;p5"/>
              <p:cNvSpPr/>
              <p:nvPr/>
            </p:nvSpPr>
            <p:spPr>
              <a:xfrm>
                <a:off x="0" y="0"/>
                <a:ext cx="3905400" cy="685800"/>
              </a:xfrm>
              <a:prstGeom prst="roundRect">
                <a:avLst>
                  <a:gd name="adj" fmla="val 11111"/>
                </a:avLst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Google Shape;223;p5"/>
              <p:cNvSpPr/>
              <p:nvPr/>
            </p:nvSpPr>
            <p:spPr>
              <a:xfrm>
                <a:off x="133350" y="209550"/>
                <a:ext cx="266700" cy="266700"/>
              </a:xfrm>
              <a:prstGeom prst="ellipse">
                <a:avLst/>
              </a:prstGeom>
              <a:solidFill>
                <a:srgbClr val="F3E8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224;p5"/>
              <p:cNvSpPr txBox="1"/>
              <p:nvPr/>
            </p:nvSpPr>
            <p:spPr>
              <a:xfrm>
                <a:off x="133350" y="209550"/>
                <a:ext cx="2667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1">
                    <a:solidFill>
                      <a:srgbClr val="704EA6"/>
                    </a:solidFill>
                    <a:latin typeface="Arial"/>
                    <a:ea typeface="Arial"/>
                    <a:cs typeface="Arial"/>
                    <a:sym typeface="Arial"/>
                  </a:rPr>
                  <a:t>01</a:t>
                </a:r>
                <a:endParaRPr sz="1000" b="1">
                  <a:solidFill>
                    <a:srgbClr val="704EA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" name="Google Shape;225;p5"/>
              <p:cNvSpPr txBox="1"/>
              <p:nvPr/>
            </p:nvSpPr>
            <p:spPr>
              <a:xfrm>
                <a:off x="495300" y="76200"/>
                <a:ext cx="3295800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 b="1">
                    <a:solidFill>
                      <a:srgbClr val="0F172A"/>
                    </a:solidFill>
                    <a:latin typeface="Arial"/>
                    <a:ea typeface="Arial"/>
                    <a:cs typeface="Arial"/>
                    <a:sym typeface="Arial"/>
                  </a:rPr>
                  <a:t>Describe the Issue</a:t>
                </a:r>
                <a:endParaRPr sz="1100" b="1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-US" sz="950">
                    <a:solidFill>
                      <a:srgbClr val="64748B"/>
                    </a:solidFill>
                    <a:latin typeface="Arial"/>
                    <a:ea typeface="Arial"/>
                    <a:cs typeface="Arial"/>
                    <a:sym typeface="Arial"/>
                  </a:rPr>
                  <a:t>User enters: "My Samsung phone screen is completely black."</a:t>
                </a:r>
                <a:endParaRPr sz="9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6" name="Google Shape;226;p5"/>
            <p:cNvGrpSpPr/>
            <p:nvPr/>
          </p:nvGrpSpPr>
          <p:grpSpPr>
            <a:xfrm>
              <a:off x="0" y="781050"/>
              <a:ext cx="3905400" cy="685800"/>
              <a:chOff x="0" y="0"/>
              <a:chExt cx="3905400" cy="685800"/>
            </a:xfrm>
          </p:grpSpPr>
          <p:sp>
            <p:nvSpPr>
              <p:cNvPr id="227" name="Google Shape;227;p5"/>
              <p:cNvSpPr/>
              <p:nvPr/>
            </p:nvSpPr>
            <p:spPr>
              <a:xfrm>
                <a:off x="0" y="0"/>
                <a:ext cx="3905400" cy="685800"/>
              </a:xfrm>
              <a:prstGeom prst="roundRect">
                <a:avLst>
                  <a:gd name="adj" fmla="val 11111"/>
                </a:avLst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Google Shape;228;p5"/>
              <p:cNvSpPr/>
              <p:nvPr/>
            </p:nvSpPr>
            <p:spPr>
              <a:xfrm>
                <a:off x="133350" y="209550"/>
                <a:ext cx="266700" cy="266700"/>
              </a:xfrm>
              <a:prstGeom prst="ellipse">
                <a:avLst/>
              </a:prstGeom>
              <a:solidFill>
                <a:srgbClr val="F3E8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Google Shape;229;p5"/>
              <p:cNvSpPr txBox="1"/>
              <p:nvPr/>
            </p:nvSpPr>
            <p:spPr>
              <a:xfrm>
                <a:off x="133350" y="209550"/>
                <a:ext cx="2667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1">
                    <a:solidFill>
                      <a:srgbClr val="704EA6"/>
                    </a:solidFill>
                    <a:latin typeface="Arial"/>
                    <a:ea typeface="Arial"/>
                    <a:cs typeface="Arial"/>
                    <a:sym typeface="Arial"/>
                  </a:rPr>
                  <a:t>02</a:t>
                </a:r>
                <a:endParaRPr sz="1000" b="1">
                  <a:solidFill>
                    <a:srgbClr val="704EA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" name="Google Shape;230;p5"/>
              <p:cNvSpPr txBox="1"/>
              <p:nvPr/>
            </p:nvSpPr>
            <p:spPr>
              <a:xfrm>
                <a:off x="495300" y="76200"/>
                <a:ext cx="3295800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 b="1">
                    <a:solidFill>
                      <a:srgbClr val="0F172A"/>
                    </a:solidFill>
                    <a:latin typeface="Arial"/>
                    <a:ea typeface="Arial"/>
                    <a:cs typeface="Arial"/>
                    <a:sym typeface="Arial"/>
                  </a:rPr>
                  <a:t>Issue Understanding</a:t>
                </a:r>
                <a:endParaRPr sz="1100" b="1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-US" sz="950">
                    <a:solidFill>
                      <a:srgbClr val="64748B"/>
                    </a:solidFill>
                    <a:latin typeface="Arial"/>
                    <a:ea typeface="Arial"/>
                    <a:cs typeface="Arial"/>
                    <a:sym typeface="Arial"/>
                  </a:rPr>
                  <a:t>Identifies display fault &amp; presents underlying causes.</a:t>
                </a:r>
                <a:endParaRPr sz="9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1" name="Google Shape;231;p5"/>
            <p:cNvGrpSpPr/>
            <p:nvPr/>
          </p:nvGrpSpPr>
          <p:grpSpPr>
            <a:xfrm>
              <a:off x="0" y="1562100"/>
              <a:ext cx="3905400" cy="685800"/>
              <a:chOff x="0" y="0"/>
              <a:chExt cx="3905400" cy="685800"/>
            </a:xfrm>
          </p:grpSpPr>
          <p:sp>
            <p:nvSpPr>
              <p:cNvPr id="232" name="Google Shape;232;p5"/>
              <p:cNvSpPr/>
              <p:nvPr/>
            </p:nvSpPr>
            <p:spPr>
              <a:xfrm>
                <a:off x="0" y="0"/>
                <a:ext cx="3905400" cy="685800"/>
              </a:xfrm>
              <a:prstGeom prst="roundRect">
                <a:avLst>
                  <a:gd name="adj" fmla="val 11111"/>
                </a:avLst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5"/>
              <p:cNvSpPr/>
              <p:nvPr/>
            </p:nvSpPr>
            <p:spPr>
              <a:xfrm>
                <a:off x="133350" y="209550"/>
                <a:ext cx="266700" cy="266700"/>
              </a:xfrm>
              <a:prstGeom prst="ellipse">
                <a:avLst/>
              </a:prstGeom>
              <a:solidFill>
                <a:srgbClr val="F3E8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Google Shape;234;p5"/>
              <p:cNvSpPr txBox="1"/>
              <p:nvPr/>
            </p:nvSpPr>
            <p:spPr>
              <a:xfrm>
                <a:off x="133350" y="209550"/>
                <a:ext cx="2667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1">
                    <a:solidFill>
                      <a:srgbClr val="704EA6"/>
                    </a:solidFill>
                    <a:latin typeface="Arial"/>
                    <a:ea typeface="Arial"/>
                    <a:cs typeface="Arial"/>
                    <a:sym typeface="Arial"/>
                  </a:rPr>
                  <a:t>03</a:t>
                </a:r>
                <a:endParaRPr sz="1000" b="1">
                  <a:solidFill>
                    <a:srgbClr val="704EA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5" name="Google Shape;235;p5"/>
              <p:cNvSpPr txBox="1"/>
              <p:nvPr/>
            </p:nvSpPr>
            <p:spPr>
              <a:xfrm>
                <a:off x="495300" y="76200"/>
                <a:ext cx="3295800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 b="1">
                    <a:solidFill>
                      <a:srgbClr val="0F172A"/>
                    </a:solidFill>
                    <a:latin typeface="Arial"/>
                    <a:ea typeface="Arial"/>
                    <a:cs typeface="Arial"/>
                    <a:sym typeface="Arial"/>
                  </a:rPr>
                  <a:t>Troubleshooting Plan</a:t>
                </a:r>
                <a:endParaRPr sz="1100" b="1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-US" sz="950">
                    <a:solidFill>
                      <a:srgbClr val="64748B"/>
                    </a:solidFill>
                    <a:latin typeface="Arial"/>
                    <a:ea typeface="Arial"/>
                    <a:cs typeface="Arial"/>
                    <a:sym typeface="Arial"/>
                  </a:rPr>
                  <a:t>Generates 4 safe steps: Damage, Charge, Power, Restart.</a:t>
                </a:r>
                <a:endParaRPr sz="9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6" name="Google Shape;236;p5"/>
            <p:cNvGrpSpPr/>
            <p:nvPr/>
          </p:nvGrpSpPr>
          <p:grpSpPr>
            <a:xfrm>
              <a:off x="0" y="2343150"/>
              <a:ext cx="3905400" cy="685800"/>
              <a:chOff x="0" y="0"/>
              <a:chExt cx="3905400" cy="685800"/>
            </a:xfrm>
          </p:grpSpPr>
          <p:sp>
            <p:nvSpPr>
              <p:cNvPr id="237" name="Google Shape;237;p5"/>
              <p:cNvSpPr/>
              <p:nvPr/>
            </p:nvSpPr>
            <p:spPr>
              <a:xfrm>
                <a:off x="0" y="0"/>
                <a:ext cx="3905400" cy="685800"/>
              </a:xfrm>
              <a:prstGeom prst="roundRect">
                <a:avLst>
                  <a:gd name="adj" fmla="val 11111"/>
                </a:avLst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5"/>
              <p:cNvSpPr/>
              <p:nvPr/>
            </p:nvSpPr>
            <p:spPr>
              <a:xfrm>
                <a:off x="133350" y="209550"/>
                <a:ext cx="266700" cy="266700"/>
              </a:xfrm>
              <a:prstGeom prst="ellipse">
                <a:avLst/>
              </a:prstGeom>
              <a:solidFill>
                <a:srgbClr val="F3E8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Google Shape;239;p5"/>
              <p:cNvSpPr txBox="1"/>
              <p:nvPr/>
            </p:nvSpPr>
            <p:spPr>
              <a:xfrm>
                <a:off x="133350" y="209550"/>
                <a:ext cx="2667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1">
                    <a:solidFill>
                      <a:srgbClr val="704EA6"/>
                    </a:solidFill>
                    <a:latin typeface="Arial"/>
                    <a:ea typeface="Arial"/>
                    <a:cs typeface="Arial"/>
                    <a:sym typeface="Arial"/>
                  </a:rPr>
                  <a:t>04</a:t>
                </a:r>
                <a:endParaRPr sz="1000" b="1">
                  <a:solidFill>
                    <a:srgbClr val="704EA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" name="Google Shape;240;p5"/>
              <p:cNvSpPr txBox="1"/>
              <p:nvPr/>
            </p:nvSpPr>
            <p:spPr>
              <a:xfrm>
                <a:off x="495300" y="76200"/>
                <a:ext cx="3295800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 b="1">
                    <a:solidFill>
                      <a:srgbClr val="0F172A"/>
                    </a:solidFill>
                    <a:latin typeface="Arial"/>
                    <a:ea typeface="Arial"/>
                    <a:cs typeface="Arial"/>
                    <a:sym typeface="Arial"/>
                  </a:rPr>
                  <a:t>Guided Execution</a:t>
                </a:r>
                <a:endParaRPr sz="1100" b="1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-US" sz="950">
                    <a:solidFill>
                      <a:srgbClr val="64748B"/>
                    </a:solidFill>
                    <a:latin typeface="Arial"/>
                    <a:ea typeface="Arial"/>
                    <a:cs typeface="Arial"/>
                    <a:sym typeface="Arial"/>
                  </a:rPr>
                  <a:t>Step-by-step instructions, Samsung guidance &amp; deeplinks.</a:t>
                </a:r>
                <a:endParaRPr sz="9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1" name="Google Shape;241;p5"/>
            <p:cNvGrpSpPr/>
            <p:nvPr/>
          </p:nvGrpSpPr>
          <p:grpSpPr>
            <a:xfrm>
              <a:off x="0" y="3124200"/>
              <a:ext cx="3905400" cy="685800"/>
              <a:chOff x="0" y="0"/>
              <a:chExt cx="3905400" cy="685800"/>
            </a:xfrm>
          </p:grpSpPr>
          <p:sp>
            <p:nvSpPr>
              <p:cNvPr id="242" name="Google Shape;242;p5"/>
              <p:cNvSpPr/>
              <p:nvPr/>
            </p:nvSpPr>
            <p:spPr>
              <a:xfrm>
                <a:off x="0" y="0"/>
                <a:ext cx="3905400" cy="685800"/>
              </a:xfrm>
              <a:prstGeom prst="roundRect">
                <a:avLst>
                  <a:gd name="adj" fmla="val 11111"/>
                </a:avLst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5"/>
              <p:cNvSpPr/>
              <p:nvPr/>
            </p:nvSpPr>
            <p:spPr>
              <a:xfrm>
                <a:off x="133350" y="209550"/>
                <a:ext cx="266700" cy="266700"/>
              </a:xfrm>
              <a:prstGeom prst="ellipse">
                <a:avLst/>
              </a:prstGeom>
              <a:solidFill>
                <a:srgbClr val="F3E8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Google Shape;244;p5"/>
              <p:cNvSpPr txBox="1"/>
              <p:nvPr/>
            </p:nvSpPr>
            <p:spPr>
              <a:xfrm>
                <a:off x="133350" y="209550"/>
                <a:ext cx="2667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1">
                    <a:solidFill>
                      <a:srgbClr val="704EA6"/>
                    </a:solidFill>
                    <a:latin typeface="Arial"/>
                    <a:ea typeface="Arial"/>
                    <a:cs typeface="Arial"/>
                    <a:sym typeface="Arial"/>
                  </a:rPr>
                  <a:t>05</a:t>
                </a:r>
                <a:endParaRPr sz="1000" b="1">
                  <a:solidFill>
                    <a:srgbClr val="704EA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" name="Google Shape;245;p5"/>
              <p:cNvSpPr txBox="1"/>
              <p:nvPr/>
            </p:nvSpPr>
            <p:spPr>
              <a:xfrm>
                <a:off x="495300" y="76200"/>
                <a:ext cx="3295800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 b="1">
                    <a:solidFill>
                      <a:srgbClr val="0F172A"/>
                    </a:solidFill>
                    <a:latin typeface="Arial"/>
                    <a:ea typeface="Arial"/>
                    <a:cs typeface="Arial"/>
                    <a:sym typeface="Arial"/>
                  </a:rPr>
                  <a:t>Resolution &amp; Next Steps</a:t>
                </a:r>
                <a:endParaRPr sz="1100" b="1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-US" sz="950">
                    <a:solidFill>
                      <a:srgbClr val="64748B"/>
                    </a:solidFill>
                    <a:latin typeface="Arial"/>
                    <a:ea typeface="Arial"/>
                    <a:cs typeface="Arial"/>
                    <a:sym typeface="Arial"/>
                  </a:rPr>
                  <a:t>Issue Resolved. Options to explore related guides or history.</a:t>
                </a:r>
                <a:endParaRPr sz="9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46" name="Google Shape;246;p5"/>
          <p:cNvGrpSpPr/>
          <p:nvPr/>
        </p:nvGrpSpPr>
        <p:grpSpPr>
          <a:xfrm>
            <a:off x="4905375" y="1466850"/>
            <a:ext cx="6524700" cy="3905400"/>
            <a:chOff x="0" y="0"/>
            <a:chExt cx="6524700" cy="3905400"/>
          </a:xfrm>
        </p:grpSpPr>
        <p:sp>
          <p:nvSpPr>
            <p:cNvPr id="247" name="Google Shape;247;p5"/>
            <p:cNvSpPr/>
            <p:nvPr/>
          </p:nvSpPr>
          <p:spPr>
            <a:xfrm>
              <a:off x="0" y="0"/>
              <a:ext cx="6524700" cy="3905400"/>
            </a:xfrm>
            <a:prstGeom prst="roundRect">
              <a:avLst>
                <a:gd name="adj" fmla="val 2926"/>
              </a:avLst>
            </a:prstGeom>
            <a:solidFill>
              <a:srgbClr val="FFFFFF"/>
            </a:solidFill>
            <a:ln w="14300" cap="flat" cmpd="sng">
              <a:solidFill>
                <a:srgbClr val="DDD6F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8" name="Google Shape;248;p5"/>
            <p:cNvGrpSpPr/>
            <p:nvPr/>
          </p:nvGrpSpPr>
          <p:grpSpPr>
            <a:xfrm>
              <a:off x="171450" y="190500"/>
              <a:ext cx="6096000" cy="3181350"/>
              <a:chOff x="0" y="0"/>
              <a:chExt cx="6096000" cy="3181350"/>
            </a:xfrm>
          </p:grpSpPr>
          <p:sp>
            <p:nvSpPr>
              <p:cNvPr id="249" name="Google Shape;249;p5"/>
              <p:cNvSpPr/>
              <p:nvPr/>
            </p:nvSpPr>
            <p:spPr>
              <a:xfrm>
                <a:off x="0" y="0"/>
                <a:ext cx="1409700" cy="2762400"/>
              </a:xfrm>
              <a:prstGeom prst="roundRect">
                <a:avLst>
                  <a:gd name="adj" fmla="val 6756"/>
                </a:avLst>
              </a:prstGeom>
              <a:solidFill>
                <a:srgbClr val="F1F5F9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250" name="Google Shape;250;p5"/>
              <p:cNvPicPr preferRelativeResize="0"/>
              <p:nvPr/>
            </p:nvPicPr>
            <p:blipFill rotWithShape="1">
              <a:blip r:embed="rId4">
                <a:alphaModFix/>
              </a:blip>
              <a:srcRect t="120" r="12937" b="130"/>
              <a:stretch/>
            </p:blipFill>
            <p:spPr>
              <a:xfrm>
                <a:off x="4686300" y="9525"/>
                <a:ext cx="1409700" cy="2762400"/>
              </a:xfrm>
              <a:prstGeom prst="roundRect">
                <a:avLst>
                  <a:gd name="adj" fmla="val 6756"/>
                </a:avLst>
              </a:prstGeom>
              <a:noFill/>
              <a:ln>
                <a:noFill/>
              </a:ln>
            </p:spPr>
          </p:pic>
          <p:sp>
            <p:nvSpPr>
              <p:cNvPr id="251" name="Google Shape;251;p5"/>
              <p:cNvSpPr txBox="1"/>
              <p:nvPr/>
            </p:nvSpPr>
            <p:spPr>
              <a:xfrm>
                <a:off x="0" y="2838450"/>
                <a:ext cx="14097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50" b="1">
                    <a:solidFill>
                      <a:srgbClr val="4C1D95"/>
                    </a:solidFill>
                    <a:latin typeface="Arial"/>
                    <a:ea typeface="Arial"/>
                    <a:cs typeface="Arial"/>
                    <a:sym typeface="Arial"/>
                  </a:rPr>
                  <a:t>1. Home</a:t>
                </a:r>
                <a:endParaRPr sz="950" b="1">
                  <a:solidFill>
                    <a:srgbClr val="4C1D95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2" name="Google Shape;252;p5"/>
            <p:cNvGrpSpPr/>
            <p:nvPr/>
          </p:nvGrpSpPr>
          <p:grpSpPr>
            <a:xfrm>
              <a:off x="1733550" y="190500"/>
              <a:ext cx="2971800" cy="3181350"/>
              <a:chOff x="0" y="0"/>
              <a:chExt cx="2971800" cy="3181350"/>
            </a:xfrm>
          </p:grpSpPr>
          <p:sp>
            <p:nvSpPr>
              <p:cNvPr id="253" name="Google Shape;253;p5"/>
              <p:cNvSpPr/>
              <p:nvPr/>
            </p:nvSpPr>
            <p:spPr>
              <a:xfrm>
                <a:off x="0" y="0"/>
                <a:ext cx="1409700" cy="2762400"/>
              </a:xfrm>
              <a:prstGeom prst="roundRect">
                <a:avLst>
                  <a:gd name="adj" fmla="val 6756"/>
                </a:avLst>
              </a:prstGeom>
              <a:solidFill>
                <a:srgbClr val="F1F5F9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254" name="Google Shape;254;p5"/>
              <p:cNvPicPr preferRelativeResize="0"/>
              <p:nvPr/>
            </p:nvPicPr>
            <p:blipFill rotWithShape="1">
              <a:blip r:embed="rId5">
                <a:alphaModFix/>
              </a:blip>
              <a:srcRect l="70" r="12997"/>
              <a:stretch/>
            </p:blipFill>
            <p:spPr>
              <a:xfrm>
                <a:off x="1562100" y="9525"/>
                <a:ext cx="1409700" cy="2762400"/>
              </a:xfrm>
              <a:prstGeom prst="roundRect">
                <a:avLst>
                  <a:gd name="adj" fmla="val 6756"/>
                </a:avLst>
              </a:prstGeom>
              <a:noFill/>
              <a:ln>
                <a:noFill/>
              </a:ln>
            </p:spPr>
          </p:pic>
          <p:sp>
            <p:nvSpPr>
              <p:cNvPr id="255" name="Google Shape;255;p5"/>
              <p:cNvSpPr txBox="1"/>
              <p:nvPr/>
            </p:nvSpPr>
            <p:spPr>
              <a:xfrm>
                <a:off x="0" y="2838450"/>
                <a:ext cx="14097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50" b="1">
                    <a:solidFill>
                      <a:srgbClr val="4C1D95"/>
                    </a:solidFill>
                    <a:latin typeface="Arial"/>
                    <a:ea typeface="Arial"/>
                    <a:cs typeface="Arial"/>
                    <a:sym typeface="Arial"/>
                  </a:rPr>
                  <a:t>2. Troubleshooting</a:t>
                </a:r>
                <a:endParaRPr sz="950" b="1">
                  <a:solidFill>
                    <a:srgbClr val="4C1D95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6" name="Google Shape;256;p5"/>
            <p:cNvGrpSpPr/>
            <p:nvPr/>
          </p:nvGrpSpPr>
          <p:grpSpPr>
            <a:xfrm>
              <a:off x="1733538" y="190500"/>
              <a:ext cx="2971813" cy="3181350"/>
              <a:chOff x="-1562112" y="0"/>
              <a:chExt cx="2971813" cy="3181350"/>
            </a:xfrm>
          </p:grpSpPr>
          <p:pic>
            <p:nvPicPr>
              <p:cNvPr id="257" name="Google Shape;257;p5"/>
              <p:cNvPicPr preferRelativeResize="0"/>
              <p:nvPr/>
            </p:nvPicPr>
            <p:blipFill rotWithShape="1">
              <a:blip r:embed="rId6">
                <a:alphaModFix/>
              </a:blip>
              <a:srcRect l="644" r="13423"/>
              <a:stretch/>
            </p:blipFill>
            <p:spPr>
              <a:xfrm>
                <a:off x="-1562112" y="0"/>
                <a:ext cx="1409700" cy="2762400"/>
              </a:xfrm>
              <a:prstGeom prst="roundRect">
                <a:avLst>
                  <a:gd name="adj" fmla="val 6756"/>
                </a:avLst>
              </a:prstGeom>
              <a:noFill/>
              <a:ln>
                <a:noFill/>
              </a:ln>
            </p:spPr>
          </p:pic>
          <p:sp>
            <p:nvSpPr>
              <p:cNvPr id="258" name="Google Shape;258;p5"/>
              <p:cNvSpPr txBox="1"/>
              <p:nvPr/>
            </p:nvSpPr>
            <p:spPr>
              <a:xfrm>
                <a:off x="0" y="2838450"/>
                <a:ext cx="14097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50" b="1">
                    <a:solidFill>
                      <a:srgbClr val="4C1D95"/>
                    </a:solidFill>
                    <a:latin typeface="Arial"/>
                    <a:ea typeface="Arial"/>
                    <a:cs typeface="Arial"/>
                    <a:sym typeface="Arial"/>
                  </a:rPr>
                  <a:t>3. Step Execution</a:t>
                </a:r>
                <a:endParaRPr sz="950" b="1">
                  <a:solidFill>
                    <a:srgbClr val="4C1D95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9" name="Google Shape;259;p5"/>
            <p:cNvGrpSpPr/>
            <p:nvPr/>
          </p:nvGrpSpPr>
          <p:grpSpPr>
            <a:xfrm>
              <a:off x="171450" y="200025"/>
              <a:ext cx="6096000" cy="3171825"/>
              <a:chOff x="-4686300" y="9525"/>
              <a:chExt cx="6096000" cy="3171825"/>
            </a:xfrm>
          </p:grpSpPr>
          <p:pic>
            <p:nvPicPr>
              <p:cNvPr id="260" name="Google Shape;260;p5"/>
              <p:cNvPicPr preferRelativeResize="0"/>
              <p:nvPr/>
            </p:nvPicPr>
            <p:blipFill rotWithShape="1">
              <a:blip r:embed="rId7">
                <a:alphaModFix/>
              </a:blip>
              <a:srcRect l="1828" r="14300"/>
              <a:stretch/>
            </p:blipFill>
            <p:spPr>
              <a:xfrm>
                <a:off x="-4686300" y="9525"/>
                <a:ext cx="1409700" cy="2762400"/>
              </a:xfrm>
              <a:prstGeom prst="roundRect">
                <a:avLst>
                  <a:gd name="adj" fmla="val 6756"/>
                </a:avLst>
              </a:prstGeom>
              <a:noFill/>
              <a:ln>
                <a:noFill/>
              </a:ln>
            </p:spPr>
          </p:pic>
          <p:sp>
            <p:nvSpPr>
              <p:cNvPr id="261" name="Google Shape;261;p5"/>
              <p:cNvSpPr txBox="1"/>
              <p:nvPr/>
            </p:nvSpPr>
            <p:spPr>
              <a:xfrm>
                <a:off x="0" y="2838450"/>
                <a:ext cx="14097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50" b="1">
                    <a:solidFill>
                      <a:srgbClr val="4C1D95"/>
                    </a:solidFill>
                    <a:latin typeface="Arial"/>
                    <a:ea typeface="Arial"/>
                    <a:cs typeface="Arial"/>
                    <a:sym typeface="Arial"/>
                  </a:rPr>
                  <a:t>4. Issue Resolution</a:t>
                </a:r>
                <a:endParaRPr sz="950" b="1">
                  <a:solidFill>
                    <a:srgbClr val="4C1D95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2" name="Google Shape;262;p5"/>
            <p:cNvSpPr/>
            <p:nvPr/>
          </p:nvSpPr>
          <p:spPr>
            <a:xfrm>
              <a:off x="171450" y="3314700"/>
              <a:ext cx="6096000" cy="438300"/>
            </a:xfrm>
            <a:prstGeom prst="roundRect">
              <a:avLst>
                <a:gd name="adj" fmla="val 17391"/>
              </a:avLst>
            </a:prstGeom>
            <a:solidFill>
              <a:srgbClr val="F8FAFC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5"/>
            <p:cNvSpPr txBox="1"/>
            <p:nvPr/>
          </p:nvSpPr>
          <p:spPr>
            <a:xfrm>
              <a:off x="285750" y="3314700"/>
              <a:ext cx="5867400" cy="438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>
                  <a:solidFill>
                    <a:srgbClr val="704EA6"/>
                  </a:solidFill>
                  <a:latin typeface="Arial"/>
                  <a:ea typeface="Arial"/>
                  <a:cs typeface="Arial"/>
                  <a:sym typeface="Arial"/>
                </a:rPr>
                <a:t>Recommended Sequence:</a:t>
              </a:r>
              <a:r>
                <a:rPr lang="en-US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Home → Diagnose → Follow Steps → Guided Actions → Resolution</a:t>
              </a:r>
              <a:endParaRPr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4" name="Google Shape;264;p5"/>
          <p:cNvGrpSpPr/>
          <p:nvPr/>
        </p:nvGrpSpPr>
        <p:grpSpPr>
          <a:xfrm>
            <a:off x="762000" y="5524500"/>
            <a:ext cx="10668000" cy="571500"/>
            <a:chOff x="0" y="0"/>
            <a:chExt cx="10668000" cy="571500"/>
          </a:xfrm>
        </p:grpSpPr>
        <p:sp>
          <p:nvSpPr>
            <p:cNvPr id="265" name="Google Shape;265;p5"/>
            <p:cNvSpPr/>
            <p:nvPr/>
          </p:nvSpPr>
          <p:spPr>
            <a:xfrm>
              <a:off x="0" y="0"/>
              <a:ext cx="10668000" cy="571500"/>
            </a:xfrm>
            <a:prstGeom prst="roundRect">
              <a:avLst>
                <a:gd name="adj" fmla="val 16666"/>
              </a:avLst>
            </a:prstGeom>
            <a:solidFill>
              <a:srgbClr val="704EA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5"/>
            <p:cNvSpPr txBox="1"/>
            <p:nvPr/>
          </p:nvSpPr>
          <p:spPr>
            <a:xfrm>
              <a:off x="228600" y="0"/>
              <a:ext cx="102108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★ Instant Understanding &amp; Guided Execution</a:t>
              </a:r>
              <a:endParaRPr sz="1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DDD6FE"/>
                  </a:solidFill>
                  <a:latin typeface="Arial"/>
                  <a:ea typeface="Arial"/>
                  <a:cs typeface="Arial"/>
                  <a:sym typeface="Arial"/>
                </a:rPr>
                <a:t>Converts complex support documentation into an interactive, step-by-step diagnostic workflow in seconds.</a:t>
              </a:r>
              <a:endParaRPr sz="1000">
                <a:solidFill>
                  <a:srgbClr val="DDD6F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h1f3510bad6b775e2_88_108"/>
          <p:cNvSpPr txBox="1"/>
          <p:nvPr/>
        </p:nvSpPr>
        <p:spPr>
          <a:xfrm>
            <a:off x="838200" y="381000"/>
            <a:ext cx="105156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Tools and tech stack used</a:t>
            </a:r>
            <a:endParaRPr sz="3600" b="1">
              <a:solidFill>
                <a:srgbClr val="704EA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h1f3510bad6b775e2_88_108"/>
          <p:cNvSpPr txBox="1"/>
          <p:nvPr/>
        </p:nvSpPr>
        <p:spPr>
          <a:xfrm>
            <a:off x="838200" y="1095375"/>
            <a:ext cx="55245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4C1D95"/>
                </a:solidFill>
                <a:latin typeface="Calibri"/>
                <a:ea typeface="Calibri"/>
                <a:cs typeface="Calibri"/>
                <a:sym typeface="Calibri"/>
              </a:rPr>
              <a:t>Key Technical Components</a:t>
            </a:r>
            <a:endParaRPr sz="1800" b="1">
              <a:solidFill>
                <a:srgbClr val="4C1D9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3" name="Google Shape;273;h1f3510bad6b775e2_88_108"/>
          <p:cNvGrpSpPr/>
          <p:nvPr/>
        </p:nvGrpSpPr>
        <p:grpSpPr>
          <a:xfrm>
            <a:off x="838200" y="1524000"/>
            <a:ext cx="5524500" cy="705000"/>
            <a:chOff x="0" y="0"/>
            <a:chExt cx="5524500" cy="705000"/>
          </a:xfrm>
        </p:grpSpPr>
        <p:sp>
          <p:nvSpPr>
            <p:cNvPr id="274" name="Google Shape;274;h1f3510bad6b775e2_88_108"/>
            <p:cNvSpPr/>
            <p:nvPr/>
          </p:nvSpPr>
          <p:spPr>
            <a:xfrm>
              <a:off x="0" y="0"/>
              <a:ext cx="5524500" cy="705000"/>
            </a:xfrm>
            <a:prstGeom prst="roundRect">
              <a:avLst>
                <a:gd name="adj" fmla="val 13513"/>
              </a:avLst>
            </a:prstGeom>
            <a:solidFill>
              <a:srgbClr val="FFFFFF"/>
            </a:solidFill>
            <a:ln w="14300" cap="flat" cmpd="sng">
              <a:solidFill>
                <a:srgbClr val="E9D5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h1f3510bad6b775e2_88_108"/>
            <p:cNvSpPr/>
            <p:nvPr/>
          </p:nvSpPr>
          <p:spPr>
            <a:xfrm>
              <a:off x="0" y="0"/>
              <a:ext cx="57300" cy="705000"/>
            </a:xfrm>
            <a:prstGeom prst="roundRect">
              <a:avLst>
                <a:gd name="adj" fmla="val 50000"/>
              </a:avLst>
            </a:prstGeom>
            <a:solidFill>
              <a:srgbClr val="704EA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h1f3510bad6b775e2_88_108"/>
            <p:cNvSpPr txBox="1"/>
            <p:nvPr/>
          </p:nvSpPr>
          <p:spPr>
            <a:xfrm>
              <a:off x="209550" y="0"/>
              <a:ext cx="5162700" cy="70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1">
                  <a:solidFill>
                    <a:srgbClr val="4C1D95"/>
                  </a:solidFill>
                  <a:latin typeface="Calibri"/>
                  <a:ea typeface="Calibri"/>
                  <a:cs typeface="Calibri"/>
                  <a:sym typeface="Calibri"/>
                </a:rPr>
                <a:t>Node.js HTTP Server</a:t>
              </a:r>
              <a:endParaRPr sz="1300" b="1">
                <a:solidFill>
                  <a:srgbClr val="4C1D95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4B5563"/>
                  </a:solidFill>
                  <a:latin typeface="Calibri"/>
                  <a:ea typeface="Calibri"/>
                  <a:cs typeface="Calibri"/>
                  <a:sym typeface="Calibri"/>
                </a:rPr>
                <a:t>Handles API requests and serves the web interface.</a:t>
              </a:r>
              <a:endParaRPr sz="110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7" name="Google Shape;277;h1f3510bad6b775e2_88_108"/>
          <p:cNvGrpSpPr/>
          <p:nvPr/>
        </p:nvGrpSpPr>
        <p:grpSpPr>
          <a:xfrm>
            <a:off x="838200" y="2343150"/>
            <a:ext cx="5524500" cy="705000"/>
            <a:chOff x="0" y="0"/>
            <a:chExt cx="5524500" cy="705000"/>
          </a:xfrm>
        </p:grpSpPr>
        <p:sp>
          <p:nvSpPr>
            <p:cNvPr id="278" name="Google Shape;278;h1f3510bad6b775e2_88_108"/>
            <p:cNvSpPr/>
            <p:nvPr/>
          </p:nvSpPr>
          <p:spPr>
            <a:xfrm>
              <a:off x="0" y="0"/>
              <a:ext cx="5524500" cy="705000"/>
            </a:xfrm>
            <a:prstGeom prst="roundRect">
              <a:avLst>
                <a:gd name="adj" fmla="val 13513"/>
              </a:avLst>
            </a:prstGeom>
            <a:solidFill>
              <a:srgbClr val="FFFFFF"/>
            </a:solidFill>
            <a:ln w="14300" cap="flat" cmpd="sng">
              <a:solidFill>
                <a:srgbClr val="E9D5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h1f3510bad6b775e2_88_108"/>
            <p:cNvSpPr/>
            <p:nvPr/>
          </p:nvSpPr>
          <p:spPr>
            <a:xfrm>
              <a:off x="0" y="0"/>
              <a:ext cx="57300" cy="705000"/>
            </a:xfrm>
            <a:prstGeom prst="roundRect">
              <a:avLst>
                <a:gd name="adj" fmla="val 50000"/>
              </a:avLst>
            </a:prstGeom>
            <a:solidFill>
              <a:srgbClr val="704EA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h1f3510bad6b775e2_88_108"/>
            <p:cNvSpPr txBox="1"/>
            <p:nvPr/>
          </p:nvSpPr>
          <p:spPr>
            <a:xfrm>
              <a:off x="209550" y="0"/>
              <a:ext cx="5162700" cy="70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1">
                  <a:solidFill>
                    <a:srgbClr val="4C1D95"/>
                  </a:solidFill>
                  <a:latin typeface="Calibri"/>
                  <a:ea typeface="Calibri"/>
                  <a:cs typeface="Calibri"/>
                  <a:sym typeface="Calibri"/>
                </a:rPr>
                <a:t>Hybrid Retrieval</a:t>
              </a:r>
              <a:endParaRPr sz="1300" b="1">
                <a:solidFill>
                  <a:srgbClr val="4C1D95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4B5563"/>
                  </a:solidFill>
                  <a:latin typeface="Calibri"/>
                  <a:ea typeface="Calibri"/>
                  <a:cs typeface="Calibri"/>
                  <a:sym typeface="Calibri"/>
                </a:rPr>
                <a:t>Combines keyword-based and dense similarity signals.</a:t>
              </a:r>
              <a:endParaRPr sz="110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1" name="Google Shape;281;h1f3510bad6b775e2_88_108"/>
          <p:cNvGrpSpPr/>
          <p:nvPr/>
        </p:nvGrpSpPr>
        <p:grpSpPr>
          <a:xfrm>
            <a:off x="838200" y="3162300"/>
            <a:ext cx="5524500" cy="705000"/>
            <a:chOff x="0" y="0"/>
            <a:chExt cx="5524500" cy="705000"/>
          </a:xfrm>
        </p:grpSpPr>
        <p:sp>
          <p:nvSpPr>
            <p:cNvPr id="282" name="Google Shape;282;h1f3510bad6b775e2_88_108"/>
            <p:cNvSpPr/>
            <p:nvPr/>
          </p:nvSpPr>
          <p:spPr>
            <a:xfrm>
              <a:off x="0" y="0"/>
              <a:ext cx="5524500" cy="705000"/>
            </a:xfrm>
            <a:prstGeom prst="roundRect">
              <a:avLst>
                <a:gd name="adj" fmla="val 13513"/>
              </a:avLst>
            </a:prstGeom>
            <a:solidFill>
              <a:srgbClr val="FFFFFF"/>
            </a:solidFill>
            <a:ln w="14300" cap="flat" cmpd="sng">
              <a:solidFill>
                <a:srgbClr val="E9D5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h1f3510bad6b775e2_88_108"/>
            <p:cNvSpPr/>
            <p:nvPr/>
          </p:nvSpPr>
          <p:spPr>
            <a:xfrm>
              <a:off x="0" y="0"/>
              <a:ext cx="57300" cy="705000"/>
            </a:xfrm>
            <a:prstGeom prst="roundRect">
              <a:avLst>
                <a:gd name="adj" fmla="val 50000"/>
              </a:avLst>
            </a:prstGeom>
            <a:solidFill>
              <a:srgbClr val="704EA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h1f3510bad6b775e2_88_108"/>
            <p:cNvSpPr txBox="1"/>
            <p:nvPr/>
          </p:nvSpPr>
          <p:spPr>
            <a:xfrm>
              <a:off x="209550" y="0"/>
              <a:ext cx="5162700" cy="70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1">
                  <a:solidFill>
                    <a:srgbClr val="4C1D95"/>
                  </a:solidFill>
                  <a:latin typeface="Calibri"/>
                  <a:ea typeface="Calibri"/>
                  <a:cs typeface="Calibri"/>
                  <a:sym typeface="Calibri"/>
                </a:rPr>
                <a:t>Semantic Cache</a:t>
              </a:r>
              <a:endParaRPr sz="1300" b="1">
                <a:solidFill>
                  <a:srgbClr val="4C1D95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4B5563"/>
                  </a:solidFill>
                  <a:latin typeface="Calibri"/>
                  <a:ea typeface="Calibri"/>
                  <a:cs typeface="Calibri"/>
                  <a:sym typeface="Calibri"/>
                </a:rPr>
                <a:t>Supports exact, variation-based, and fuzzy query matching.</a:t>
              </a:r>
              <a:endParaRPr sz="110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5" name="Google Shape;285;h1f3510bad6b775e2_88_108"/>
          <p:cNvGrpSpPr/>
          <p:nvPr/>
        </p:nvGrpSpPr>
        <p:grpSpPr>
          <a:xfrm>
            <a:off x="838200" y="3981450"/>
            <a:ext cx="5524500" cy="705000"/>
            <a:chOff x="0" y="0"/>
            <a:chExt cx="5524500" cy="705000"/>
          </a:xfrm>
        </p:grpSpPr>
        <p:sp>
          <p:nvSpPr>
            <p:cNvPr id="286" name="Google Shape;286;h1f3510bad6b775e2_88_108"/>
            <p:cNvSpPr/>
            <p:nvPr/>
          </p:nvSpPr>
          <p:spPr>
            <a:xfrm>
              <a:off x="0" y="0"/>
              <a:ext cx="5524500" cy="705000"/>
            </a:xfrm>
            <a:prstGeom prst="roundRect">
              <a:avLst>
                <a:gd name="adj" fmla="val 13513"/>
              </a:avLst>
            </a:prstGeom>
            <a:solidFill>
              <a:srgbClr val="FFFFFF"/>
            </a:solidFill>
            <a:ln w="14300" cap="flat" cmpd="sng">
              <a:solidFill>
                <a:srgbClr val="E9D5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h1f3510bad6b775e2_88_108"/>
            <p:cNvSpPr/>
            <p:nvPr/>
          </p:nvSpPr>
          <p:spPr>
            <a:xfrm>
              <a:off x="0" y="0"/>
              <a:ext cx="57300" cy="705000"/>
            </a:xfrm>
            <a:prstGeom prst="roundRect">
              <a:avLst>
                <a:gd name="adj" fmla="val 50000"/>
              </a:avLst>
            </a:prstGeom>
            <a:solidFill>
              <a:srgbClr val="704EA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h1f3510bad6b775e2_88_108"/>
            <p:cNvSpPr txBox="1"/>
            <p:nvPr/>
          </p:nvSpPr>
          <p:spPr>
            <a:xfrm>
              <a:off x="209550" y="0"/>
              <a:ext cx="5162700" cy="70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1">
                  <a:solidFill>
                    <a:srgbClr val="4C1D95"/>
                  </a:solidFill>
                  <a:latin typeface="Calibri"/>
                  <a:ea typeface="Calibri"/>
                  <a:cs typeface="Calibri"/>
                  <a:sym typeface="Calibri"/>
                </a:rPr>
                <a:t>Rule-Based Extraction</a:t>
              </a:r>
              <a:endParaRPr sz="1300" b="1">
                <a:solidFill>
                  <a:srgbClr val="4C1D95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4B5563"/>
                  </a:solidFill>
                  <a:latin typeface="Calibri"/>
                  <a:ea typeface="Calibri"/>
                  <a:cs typeface="Calibri"/>
                  <a:sym typeface="Calibri"/>
                </a:rPr>
                <a:t>Converts reference articles into structured troubleshooting plans.</a:t>
              </a:r>
              <a:endParaRPr sz="110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9" name="Google Shape;289;h1f3510bad6b775e2_88_108"/>
          <p:cNvGrpSpPr/>
          <p:nvPr/>
        </p:nvGrpSpPr>
        <p:grpSpPr>
          <a:xfrm>
            <a:off x="838200" y="4800600"/>
            <a:ext cx="5524500" cy="705000"/>
            <a:chOff x="0" y="0"/>
            <a:chExt cx="5524500" cy="705000"/>
          </a:xfrm>
        </p:grpSpPr>
        <p:sp>
          <p:nvSpPr>
            <p:cNvPr id="290" name="Google Shape;290;h1f3510bad6b775e2_88_108"/>
            <p:cNvSpPr/>
            <p:nvPr/>
          </p:nvSpPr>
          <p:spPr>
            <a:xfrm>
              <a:off x="0" y="0"/>
              <a:ext cx="5524500" cy="705000"/>
            </a:xfrm>
            <a:prstGeom prst="roundRect">
              <a:avLst>
                <a:gd name="adj" fmla="val 13513"/>
              </a:avLst>
            </a:prstGeom>
            <a:solidFill>
              <a:srgbClr val="FFFFFF"/>
            </a:solidFill>
            <a:ln w="14300" cap="flat" cmpd="sng">
              <a:solidFill>
                <a:srgbClr val="E9D5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h1f3510bad6b775e2_88_108"/>
            <p:cNvSpPr/>
            <p:nvPr/>
          </p:nvSpPr>
          <p:spPr>
            <a:xfrm>
              <a:off x="0" y="0"/>
              <a:ext cx="57300" cy="705000"/>
            </a:xfrm>
            <a:prstGeom prst="roundRect">
              <a:avLst>
                <a:gd name="adj" fmla="val 50000"/>
              </a:avLst>
            </a:prstGeom>
            <a:solidFill>
              <a:srgbClr val="704EA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h1f3510bad6b775e2_88_108"/>
            <p:cNvSpPr txBox="1"/>
            <p:nvPr/>
          </p:nvSpPr>
          <p:spPr>
            <a:xfrm>
              <a:off x="209550" y="0"/>
              <a:ext cx="5162700" cy="70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1">
                  <a:solidFill>
                    <a:srgbClr val="4C1D95"/>
                  </a:solidFill>
                  <a:latin typeface="Calibri"/>
                  <a:ea typeface="Calibri"/>
                  <a:cs typeface="Calibri"/>
                  <a:sym typeface="Calibri"/>
                </a:rPr>
                <a:t>Automated Validation</a:t>
              </a:r>
              <a:endParaRPr sz="1300" b="1">
                <a:solidFill>
                  <a:srgbClr val="4C1D95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4B5563"/>
                  </a:solidFill>
                  <a:latin typeface="Calibri"/>
                  <a:ea typeface="Calibri"/>
                  <a:cs typeface="Calibri"/>
                  <a:sym typeface="Calibri"/>
                </a:rPr>
                <a:t>Ensures output compliance before returning results.</a:t>
              </a:r>
              <a:endParaRPr sz="110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3" name="Google Shape;293;h1f3510bad6b775e2_88_108"/>
          <p:cNvGrpSpPr/>
          <p:nvPr/>
        </p:nvGrpSpPr>
        <p:grpSpPr>
          <a:xfrm>
            <a:off x="838200" y="5619750"/>
            <a:ext cx="5524500" cy="705000"/>
            <a:chOff x="0" y="0"/>
            <a:chExt cx="5524500" cy="705000"/>
          </a:xfrm>
        </p:grpSpPr>
        <p:sp>
          <p:nvSpPr>
            <p:cNvPr id="294" name="Google Shape;294;h1f3510bad6b775e2_88_108"/>
            <p:cNvSpPr/>
            <p:nvPr/>
          </p:nvSpPr>
          <p:spPr>
            <a:xfrm>
              <a:off x="0" y="0"/>
              <a:ext cx="5524500" cy="705000"/>
            </a:xfrm>
            <a:prstGeom prst="roundRect">
              <a:avLst>
                <a:gd name="adj" fmla="val 13513"/>
              </a:avLst>
            </a:prstGeom>
            <a:solidFill>
              <a:srgbClr val="FFFFFF"/>
            </a:solidFill>
            <a:ln w="14300" cap="flat" cmpd="sng">
              <a:solidFill>
                <a:srgbClr val="E9D5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h1f3510bad6b775e2_88_108"/>
            <p:cNvSpPr/>
            <p:nvPr/>
          </p:nvSpPr>
          <p:spPr>
            <a:xfrm>
              <a:off x="0" y="0"/>
              <a:ext cx="57300" cy="705000"/>
            </a:xfrm>
            <a:prstGeom prst="roundRect">
              <a:avLst>
                <a:gd name="adj" fmla="val 50000"/>
              </a:avLst>
            </a:prstGeom>
            <a:solidFill>
              <a:srgbClr val="704EA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h1f3510bad6b775e2_88_108"/>
            <p:cNvSpPr txBox="1"/>
            <p:nvPr/>
          </p:nvSpPr>
          <p:spPr>
            <a:xfrm>
              <a:off x="209550" y="0"/>
              <a:ext cx="5162700" cy="70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1">
                  <a:solidFill>
                    <a:srgbClr val="4C1D95"/>
                  </a:solidFill>
                  <a:latin typeface="Calibri"/>
                  <a:ea typeface="Calibri"/>
                  <a:cs typeface="Calibri"/>
                  <a:sym typeface="Calibri"/>
                </a:rPr>
                <a:t>Deployment</a:t>
              </a:r>
              <a:endParaRPr sz="1300" b="1">
                <a:solidFill>
                  <a:srgbClr val="4C1D95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4B5563"/>
                  </a:solidFill>
                  <a:latin typeface="Calibri"/>
                  <a:ea typeface="Calibri"/>
                  <a:cs typeface="Calibri"/>
                  <a:sym typeface="Calibri"/>
                </a:rPr>
                <a:t>Zero npm dependencies and no external API keys required.</a:t>
              </a:r>
              <a:endParaRPr sz="110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7" name="Google Shape;297;h1f3510bad6b775e2_88_108"/>
          <p:cNvGrpSpPr/>
          <p:nvPr/>
        </p:nvGrpSpPr>
        <p:grpSpPr>
          <a:xfrm>
            <a:off x="6762600" y="798025"/>
            <a:ext cx="4591200" cy="5572200"/>
            <a:chOff x="0" y="0"/>
            <a:chExt cx="4591200" cy="5572200"/>
          </a:xfrm>
        </p:grpSpPr>
        <p:sp>
          <p:nvSpPr>
            <p:cNvPr id="298" name="Google Shape;298;h1f3510bad6b775e2_88_108"/>
            <p:cNvSpPr/>
            <p:nvPr/>
          </p:nvSpPr>
          <p:spPr>
            <a:xfrm>
              <a:off x="0" y="0"/>
              <a:ext cx="4591200" cy="5572200"/>
            </a:xfrm>
            <a:prstGeom prst="roundRect">
              <a:avLst>
                <a:gd name="adj" fmla="val 2904"/>
              </a:avLst>
            </a:prstGeom>
            <a:solidFill>
              <a:srgbClr val="FFFFFF"/>
            </a:solidFill>
            <a:ln w="14300" cap="flat" cmpd="sng">
              <a:solidFill>
                <a:srgbClr val="E9D5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99" name="Google Shape;299;h1f3510bad6b775e2_88_108"/>
            <p:cNvPicPr preferRelativeResize="0"/>
            <p:nvPr/>
          </p:nvPicPr>
          <p:blipFill rotWithShape="1">
            <a:blip r:embed="rId4">
              <a:alphaModFix/>
            </a:blip>
            <a:srcRect l="-14284" t="5916" r="-14284" b="5924"/>
            <a:stretch/>
          </p:blipFill>
          <p:spPr>
            <a:xfrm>
              <a:off x="152400" y="114300"/>
              <a:ext cx="4286400" cy="5334000"/>
            </a:xfrm>
            <a:prstGeom prst="roundRect">
              <a:avLst>
                <a:gd name="adj" fmla="val 1777"/>
              </a:avLst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7"/>
          <p:cNvSpPr txBox="1"/>
          <p:nvPr/>
        </p:nvSpPr>
        <p:spPr>
          <a:xfrm>
            <a:off x="762000" y="381000"/>
            <a:ext cx="106680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60" b="1">
                <a:solidFill>
                  <a:srgbClr val="5B21B6"/>
                </a:solidFill>
                <a:latin typeface="Arial"/>
                <a:ea typeface="Arial"/>
                <a:cs typeface="Arial"/>
                <a:sym typeface="Arial"/>
              </a:rPr>
              <a:t>Impact &amp; Use case</a:t>
            </a:r>
            <a:endParaRPr sz="2960" b="1">
              <a:solidFill>
                <a:srgbClr val="5B21B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7"/>
          <p:cNvSpPr txBox="1"/>
          <p:nvPr/>
        </p:nvSpPr>
        <p:spPr>
          <a:xfrm>
            <a:off x="762000" y="952500"/>
            <a:ext cx="66675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POTENTIAL IMPACT</a:t>
            </a:r>
            <a:endParaRPr sz="1500" b="1">
              <a:solidFill>
                <a:srgbClr val="6D28D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6" name="Google Shape;306;p7"/>
          <p:cNvGrpSpPr/>
          <p:nvPr/>
        </p:nvGrpSpPr>
        <p:grpSpPr>
          <a:xfrm>
            <a:off x="762000" y="1381125"/>
            <a:ext cx="6919975" cy="2167013"/>
            <a:chOff x="0" y="0"/>
            <a:chExt cx="6919975" cy="2167013"/>
          </a:xfrm>
        </p:grpSpPr>
        <p:sp>
          <p:nvSpPr>
            <p:cNvPr id="307" name="Google Shape;307;p7"/>
            <p:cNvSpPr/>
            <p:nvPr/>
          </p:nvSpPr>
          <p:spPr>
            <a:xfrm>
              <a:off x="0" y="0"/>
              <a:ext cx="38100" cy="2095500"/>
            </a:xfrm>
            <a:prstGeom prst="roundRect">
              <a:avLst>
                <a:gd name="adj" fmla="val 50000"/>
              </a:avLst>
            </a:prstGeom>
            <a:solidFill>
              <a:srgbClr val="8B5CF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7"/>
            <p:cNvSpPr txBox="1"/>
            <p:nvPr/>
          </p:nvSpPr>
          <p:spPr>
            <a:xfrm>
              <a:off x="190500" y="71513"/>
              <a:ext cx="31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rgbClr val="4C1D95"/>
                  </a:solidFill>
                  <a:latin typeface="Arial"/>
                  <a:ea typeface="Arial"/>
                  <a:cs typeface="Arial"/>
                  <a:sym typeface="Arial"/>
                </a:rPr>
                <a:t>01. Improved User Experience</a:t>
              </a:r>
              <a:endParaRPr sz="1200" b="1">
                <a:solidFill>
                  <a:srgbClr val="4C1D9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000" b="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rPr>
                <a:t>Converts lengthy support articles into structured, easy-to-follow troubleshooting steps. Simplifies navigation and helps users resolve device issues independently.</a:t>
              </a:r>
              <a:endParaRPr sz="1000" b="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rgbClr val="4C1D95"/>
                  </a:solidFill>
                  <a:latin typeface="Arial"/>
                  <a:ea typeface="Arial"/>
                  <a:cs typeface="Arial"/>
                  <a:sym typeface="Arial"/>
                </a:rPr>
                <a:t>02. Reliable Troubleshooting</a:t>
              </a:r>
              <a:endParaRPr sz="1200" b="1">
                <a:solidFill>
                  <a:srgbClr val="4C1D9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000" b="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rPr>
                <a:t>Uses reference articles as the primary source of troubleshooting instructions. Prevents unsupported instructions through structured extraction and validation.</a:t>
              </a:r>
              <a:endParaRPr sz="1000" b="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7"/>
            <p:cNvSpPr/>
            <p:nvPr/>
          </p:nvSpPr>
          <p:spPr>
            <a:xfrm>
              <a:off x="3619500" y="0"/>
              <a:ext cx="38100" cy="2095500"/>
            </a:xfrm>
            <a:prstGeom prst="roundRect">
              <a:avLst>
                <a:gd name="adj" fmla="val 50000"/>
              </a:avLst>
            </a:prstGeom>
            <a:solidFill>
              <a:srgbClr val="8B5CF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7"/>
            <p:cNvSpPr txBox="1"/>
            <p:nvPr/>
          </p:nvSpPr>
          <p:spPr>
            <a:xfrm>
              <a:off x="3776575" y="71513"/>
              <a:ext cx="31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rgbClr val="4C1D95"/>
                  </a:solidFill>
                  <a:latin typeface="Arial"/>
                  <a:ea typeface="Arial"/>
                  <a:cs typeface="Arial"/>
                  <a:sym typeface="Arial"/>
                </a:rPr>
                <a:t>03. Faster Responses</a:t>
              </a:r>
              <a:endParaRPr sz="1200" b="1">
                <a:solidFill>
                  <a:srgbClr val="4C1D9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000" b="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rPr>
                <a:t>Uses semantic caching to retrieve previously generated troubleshooting plans. Eliminates external model inference during request processing.</a:t>
              </a:r>
              <a:endParaRPr sz="1000" b="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rgbClr val="4C1D95"/>
                  </a:solidFill>
                  <a:latin typeface="Arial"/>
                  <a:ea typeface="Arial"/>
                  <a:cs typeface="Arial"/>
                  <a:sym typeface="Arial"/>
                </a:rPr>
                <a:t>04. Safer Navigation</a:t>
              </a:r>
              <a:endParaRPr sz="1200" b="1">
                <a:solidFill>
                  <a:srgbClr val="4C1D9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000" b="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rPr>
                <a:t>Uses only deeplinks available in supplied catalog. Avoids incorrect settings navigation through accurate screen-level matching and prioritizes less disruptive actions.</a:t>
              </a:r>
              <a:endParaRPr sz="1000" b="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11" name="Google Shape;311;p7"/>
          <p:cNvCxnSpPr/>
          <p:nvPr/>
        </p:nvCxnSpPr>
        <p:spPr>
          <a:xfrm>
            <a:off x="762000" y="3762375"/>
            <a:ext cx="6667500" cy="0"/>
          </a:xfrm>
          <a:prstGeom prst="straightConnector1">
            <a:avLst/>
          </a:prstGeom>
          <a:solidFill>
            <a:srgbClr val="FFFFFF"/>
          </a:solidFill>
          <a:ln w="9525" cap="flat" cmpd="sng">
            <a:solidFill>
              <a:srgbClr val="DDD6F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12" name="Google Shape;312;p7"/>
          <p:cNvSpPr txBox="1"/>
          <p:nvPr/>
        </p:nvSpPr>
        <p:spPr>
          <a:xfrm>
            <a:off x="762000" y="4117100"/>
            <a:ext cx="6667500" cy="173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5B21B6"/>
                </a:solidFill>
                <a:latin typeface="Arial"/>
                <a:ea typeface="Arial"/>
                <a:cs typeface="Arial"/>
                <a:sym typeface="Arial"/>
              </a:rPr>
              <a:t>INNOVATION HIGHLIGHTS</a:t>
            </a:r>
            <a:endParaRPr sz="1300" b="1">
              <a:solidFill>
                <a:srgbClr val="5B21B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4C1D95"/>
                </a:solidFill>
                <a:latin typeface="Arial"/>
                <a:ea typeface="Arial"/>
                <a:cs typeface="Arial"/>
                <a:sym typeface="Arial"/>
              </a:rPr>
              <a:t>Natural Language &amp; Voice Input </a:t>
            </a:r>
            <a:r>
              <a:rPr lang="en-US" sz="1000" b="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— Users can describe or speak complaints naturally.</a:t>
            </a:r>
            <a:endParaRPr sz="1000" b="1">
              <a:solidFill>
                <a:srgbClr val="4C1D9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4C1D95"/>
                </a:solidFill>
                <a:latin typeface="Arial"/>
                <a:ea typeface="Arial"/>
                <a:cs typeface="Arial"/>
                <a:sym typeface="Arial"/>
              </a:rPr>
              <a:t>Semantic Matching &amp; Grounding </a:t>
            </a:r>
            <a:r>
              <a:rPr lang="en-US" sz="1000" b="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— Maps similar complaints to grounded reference steps.</a:t>
            </a:r>
            <a:endParaRPr sz="1000" b="1">
              <a:solidFill>
                <a:srgbClr val="4C1D9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4C1D95"/>
                </a:solidFill>
                <a:latin typeface="Arial"/>
                <a:ea typeface="Arial"/>
                <a:cs typeface="Arial"/>
                <a:sym typeface="Arial"/>
              </a:rPr>
              <a:t>Screen-Level Deeplinks </a:t>
            </a:r>
            <a:r>
              <a:rPr lang="en-US" sz="1000" b="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— Connects directly to exact device setting screens.</a:t>
            </a:r>
            <a:endParaRPr sz="1000" b="1">
              <a:solidFill>
                <a:srgbClr val="4C1D9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4C1D95"/>
                </a:solidFill>
                <a:latin typeface="Arial"/>
                <a:ea typeface="Arial"/>
                <a:cs typeface="Arial"/>
                <a:sym typeface="Arial"/>
              </a:rPr>
              <a:t>Safe Action Sequencing </a:t>
            </a:r>
            <a:r>
              <a:rPr lang="en-US" sz="1000" b="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— Prioritizes non-disruptive steps before critical operations.</a:t>
            </a:r>
            <a:endParaRPr sz="1000" b="1">
              <a:solidFill>
                <a:srgbClr val="4C1D9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4C1D95"/>
                </a:solidFill>
                <a:latin typeface="Arial"/>
                <a:ea typeface="Arial"/>
                <a:cs typeface="Arial"/>
                <a:sym typeface="Arial"/>
              </a:rPr>
              <a:t>Validated Outputs &amp; Caching </a:t>
            </a:r>
            <a:r>
              <a:rPr lang="en-US" sz="1000" b="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— Reuses validated plans and prevents broken links.</a:t>
            </a:r>
            <a:endParaRPr sz="1000" b="1">
              <a:solidFill>
                <a:srgbClr val="4C1D9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3" name="Google Shape;313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00975" y="952500"/>
            <a:ext cx="19200" cy="41529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4" name="Google Shape;314;p7"/>
          <p:cNvGrpSpPr/>
          <p:nvPr/>
        </p:nvGrpSpPr>
        <p:grpSpPr>
          <a:xfrm>
            <a:off x="8096250" y="952500"/>
            <a:ext cx="3333900" cy="5238900"/>
            <a:chOff x="0" y="0"/>
            <a:chExt cx="3333900" cy="5238900"/>
          </a:xfrm>
        </p:grpSpPr>
        <p:sp>
          <p:nvSpPr>
            <p:cNvPr id="315" name="Google Shape;315;p7"/>
            <p:cNvSpPr/>
            <p:nvPr/>
          </p:nvSpPr>
          <p:spPr>
            <a:xfrm>
              <a:off x="0" y="0"/>
              <a:ext cx="3333900" cy="5238900"/>
            </a:xfrm>
            <a:prstGeom prst="roundRect">
              <a:avLst>
                <a:gd name="adj" fmla="val 3428"/>
              </a:avLst>
            </a:prstGeom>
            <a:solidFill>
              <a:srgbClr val="FFF5F5"/>
            </a:solidFill>
            <a:ln w="14300" cap="flat" cmpd="sng">
              <a:solidFill>
                <a:srgbClr val="FECDD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7"/>
            <p:cNvSpPr txBox="1"/>
            <p:nvPr/>
          </p:nvSpPr>
          <p:spPr>
            <a:xfrm>
              <a:off x="228600" y="228600"/>
              <a:ext cx="2876700" cy="4781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991B1B"/>
                  </a:solidFill>
                  <a:latin typeface="Arial"/>
                  <a:ea typeface="Arial"/>
                  <a:cs typeface="Arial"/>
                  <a:sym typeface="Arial"/>
                </a:rPr>
                <a:t>CURRENT LIMITATIONS</a:t>
              </a:r>
              <a:endParaRPr sz="1400" b="1">
                <a:solidFill>
                  <a:srgbClr val="991B1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991B1B"/>
                  </a:solidFill>
                  <a:latin typeface="Arial"/>
                  <a:ea typeface="Arial"/>
                  <a:cs typeface="Arial"/>
                  <a:sym typeface="Arial"/>
                </a:rPr>
                <a:t>Catalog Dependency:</a:t>
              </a:r>
              <a:r>
                <a:rPr lang="en-US" sz="1000" b="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rPr>
                <a:t>Deeplink coverage is strictly limited to available catalog items.</a:t>
              </a:r>
              <a:endParaRPr sz="1400" b="1">
                <a:solidFill>
                  <a:srgbClr val="991B1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991B1B"/>
                  </a:solidFill>
                  <a:latin typeface="Arial"/>
                  <a:ea typeface="Arial"/>
                  <a:cs typeface="Arial"/>
                  <a:sym typeface="Arial"/>
                </a:rPr>
                <a:t>Single Intent Focus:</a:t>
              </a:r>
              <a:r>
                <a:rPr lang="en-US" sz="1000" b="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rPr>
                <a:t>Complex multi-intent complaints are not yet fully supported.</a:t>
              </a:r>
              <a:endParaRPr sz="1400" b="1">
                <a:solidFill>
                  <a:srgbClr val="991B1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991B1B"/>
                  </a:solidFill>
                  <a:latin typeface="Arial"/>
                  <a:ea typeface="Arial"/>
                  <a:cs typeface="Arial"/>
                  <a:sym typeface="Arial"/>
                </a:rPr>
                <a:t>Software Variations:</a:t>
              </a:r>
              <a:r>
                <a:rPr lang="en-US" sz="1000" b="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rPr>
                <a:t>Device settings hierarchies differ across OS versions &amp; models.</a:t>
              </a:r>
              <a:endParaRPr sz="1400" b="1">
                <a:solidFill>
                  <a:srgbClr val="991B1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991B1B"/>
                  </a:solidFill>
                  <a:latin typeface="Arial"/>
                  <a:ea typeface="Arial"/>
                  <a:cs typeface="Arial"/>
                  <a:sym typeface="Arial"/>
                </a:rPr>
                <a:t>Quality Grounding:</a:t>
              </a:r>
              <a:r>
                <a:rPr lang="en-US" sz="1000" b="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rPr>
                <a:t>Troubleshooting quality relies heavily on underlying source documentation.</a:t>
              </a:r>
              <a:endParaRPr sz="1400" b="1">
                <a:solidFill>
                  <a:srgbClr val="991B1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8"/>
          <p:cNvSpPr txBox="1">
            <a:spLocks noGrp="1"/>
          </p:cNvSpPr>
          <p:nvPr>
            <p:ph type="title"/>
          </p:nvPr>
        </p:nvSpPr>
        <p:spPr>
          <a:xfrm>
            <a:off x="762000" y="342900"/>
            <a:ext cx="10668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Innovation highlights, results and limitations</a:t>
            </a:r>
            <a:endParaRPr sz="3200" b="1">
              <a:solidFill>
                <a:srgbClr val="704EA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2" name="Google Shape;322;p8"/>
          <p:cNvGrpSpPr/>
          <p:nvPr/>
        </p:nvGrpSpPr>
        <p:grpSpPr>
          <a:xfrm>
            <a:off x="762000" y="1095375"/>
            <a:ext cx="6191400" cy="3429000"/>
            <a:chOff x="0" y="0"/>
            <a:chExt cx="6191400" cy="3429000"/>
          </a:xfrm>
        </p:grpSpPr>
        <p:sp>
          <p:nvSpPr>
            <p:cNvPr id="323" name="Google Shape;323;p8"/>
            <p:cNvSpPr/>
            <p:nvPr/>
          </p:nvSpPr>
          <p:spPr>
            <a:xfrm>
              <a:off x="0" y="0"/>
              <a:ext cx="6191400" cy="3429000"/>
            </a:xfrm>
            <a:prstGeom prst="roundRect">
              <a:avLst>
                <a:gd name="adj" fmla="val 3333"/>
              </a:avLst>
            </a:prstGeom>
            <a:solidFill>
              <a:srgbClr val="FFFFFF"/>
            </a:solidFill>
            <a:ln w="14300" cap="flat" cmpd="sng">
              <a:solidFill>
                <a:srgbClr val="E9D5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8"/>
            <p:cNvSpPr txBox="1"/>
            <p:nvPr/>
          </p:nvSpPr>
          <p:spPr>
            <a:xfrm>
              <a:off x="228600" y="190500"/>
              <a:ext cx="57342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704EA6"/>
                  </a:solidFill>
                  <a:latin typeface="Calibri"/>
                  <a:ea typeface="Calibri"/>
                  <a:cs typeface="Calibri"/>
                  <a:sym typeface="Calibri"/>
                </a:rPr>
                <a:t>Innovation Highlights</a:t>
              </a:r>
              <a:endParaRPr sz="16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457200" lvl="0" indent="-298450" algn="l" rtl="0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Calibri"/>
                <a:buChar char="●"/>
              </a:pPr>
              <a:r>
                <a:rPr lang="en-US" sz="1100" b="1">
                  <a:solidFill>
                    <a:srgbClr val="4C1D95"/>
                  </a:solidFill>
                  <a:latin typeface="Calibri"/>
                  <a:ea typeface="Calibri"/>
                  <a:cs typeface="Calibri"/>
                  <a:sym typeface="Calibri"/>
                </a:rPr>
                <a:t>Semantic Query Matching:</a:t>
              </a:r>
              <a:r>
                <a:rPr lang="en-US" sz="11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 Recognizes different phrasings of the same complaint.</a:t>
              </a:r>
              <a:endParaRPr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457200" lvl="0" indent="-298450" algn="l" rtl="0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Calibri"/>
                <a:buChar char="●"/>
              </a:pPr>
              <a:r>
                <a:rPr lang="en-US" sz="1100" b="1">
                  <a:solidFill>
                    <a:srgbClr val="4C1D95"/>
                  </a:solidFill>
                  <a:latin typeface="Calibri"/>
                  <a:ea typeface="Calibri"/>
                  <a:cs typeface="Calibri"/>
                  <a:sym typeface="Calibri"/>
                </a:rPr>
                <a:t>Hybrid Retrieval:</a:t>
              </a:r>
              <a:r>
                <a:rPr lang="en-US" sz="11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 Combines BM25 and semantic similarity for deeplink mapping.</a:t>
              </a:r>
              <a:endParaRPr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457200" lvl="0" indent="-298450" algn="l" rtl="0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Calibri"/>
                <a:buChar char="●"/>
              </a:pPr>
              <a:r>
                <a:rPr lang="en-US" sz="1100" b="1">
                  <a:solidFill>
                    <a:srgbClr val="4C1D95"/>
                  </a:solidFill>
                  <a:latin typeface="Calibri"/>
                  <a:ea typeface="Calibri"/>
                  <a:cs typeface="Calibri"/>
                  <a:sym typeface="Calibri"/>
                </a:rPr>
                <a:t>Action Sequencing:</a:t>
              </a:r>
              <a:r>
                <a:rPr lang="en-US" sz="11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 Prioritizes less disruptive actions.</a:t>
              </a:r>
              <a:endParaRPr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457200" lvl="0" indent="-298450" algn="l" rtl="0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Calibri"/>
                <a:buChar char="●"/>
              </a:pPr>
              <a:r>
                <a:rPr lang="en-US" sz="1100" b="1">
                  <a:solidFill>
                    <a:srgbClr val="4C1D95"/>
                  </a:solidFill>
                  <a:latin typeface="Calibri"/>
                  <a:ea typeface="Calibri"/>
                  <a:cs typeface="Calibri"/>
                  <a:sym typeface="Calibri"/>
                </a:rPr>
                <a:t>Catalog Integrity:</a:t>
              </a:r>
              <a:r>
                <a:rPr lang="en-US" sz="11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 Prevents fabricated or modified deeplinks.</a:t>
              </a:r>
              <a:endParaRPr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457200" lvl="0" indent="-298450" algn="l" rtl="0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Calibri"/>
                <a:buChar char="●"/>
              </a:pPr>
              <a:r>
                <a:rPr lang="en-US" sz="1100" b="1">
                  <a:solidFill>
                    <a:srgbClr val="4C1D95"/>
                  </a:solidFill>
                  <a:latin typeface="Calibri"/>
                  <a:ea typeface="Calibri"/>
                  <a:cs typeface="Calibri"/>
                  <a:sym typeface="Calibri"/>
                </a:rPr>
                <a:t>Fast-Path Caching:</a:t>
              </a:r>
              <a:r>
                <a:rPr lang="en-US" sz="11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 Avoids repeated processing for matching queries.</a:t>
              </a:r>
              <a:endParaRPr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457200" lvl="0" indent="-298450" algn="l" rtl="0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Calibri"/>
                <a:buChar char="●"/>
              </a:pPr>
              <a:r>
                <a:rPr lang="en-US" sz="1100" b="1">
                  <a:solidFill>
                    <a:srgbClr val="4C1D95"/>
                  </a:solidFill>
                  <a:latin typeface="Calibri"/>
                  <a:ea typeface="Calibri"/>
                  <a:cs typeface="Calibri"/>
                  <a:sym typeface="Calibri"/>
                </a:rPr>
                <a:t>Voice Assistant Integration:</a:t>
              </a:r>
              <a:r>
                <a:rPr lang="en-US" sz="11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 Enables spoken complaint processing and generates relevant troubleshooting steps.</a:t>
              </a:r>
              <a:endParaRPr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5" name="Google Shape;325;p8"/>
          <p:cNvGrpSpPr/>
          <p:nvPr/>
        </p:nvGrpSpPr>
        <p:grpSpPr>
          <a:xfrm>
            <a:off x="762000" y="4714875"/>
            <a:ext cx="6191400" cy="1714500"/>
            <a:chOff x="0" y="0"/>
            <a:chExt cx="6191400" cy="1714500"/>
          </a:xfrm>
        </p:grpSpPr>
        <p:sp>
          <p:nvSpPr>
            <p:cNvPr id="326" name="Google Shape;326;p8"/>
            <p:cNvSpPr/>
            <p:nvPr/>
          </p:nvSpPr>
          <p:spPr>
            <a:xfrm>
              <a:off x="0" y="0"/>
              <a:ext cx="6191400" cy="1714500"/>
            </a:xfrm>
            <a:prstGeom prst="roundRect">
              <a:avLst>
                <a:gd name="adj" fmla="val 6666"/>
              </a:avLst>
            </a:prstGeom>
            <a:solidFill>
              <a:srgbClr val="FFF5F5"/>
            </a:solidFill>
            <a:ln w="14300" cap="flat" cmpd="sng">
              <a:solidFill>
                <a:srgbClr val="FECDD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8"/>
            <p:cNvSpPr txBox="1"/>
            <p:nvPr/>
          </p:nvSpPr>
          <p:spPr>
            <a:xfrm>
              <a:off x="228600" y="152400"/>
              <a:ext cx="5734200" cy="14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>
                  <a:solidFill>
                    <a:srgbClr val="991B1B"/>
                  </a:solidFill>
                  <a:latin typeface="Calibri"/>
                  <a:ea typeface="Calibri"/>
                  <a:cs typeface="Calibri"/>
                  <a:sym typeface="Calibri"/>
                </a:rPr>
                <a:t>Limitations</a:t>
              </a:r>
              <a:endParaRPr sz="1500" b="1">
                <a:solidFill>
                  <a:srgbClr val="991B1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457200" lvl="0" indent="-298450" algn="l" rtl="0">
                <a:spcBef>
                  <a:spcPts val="600"/>
                </a:spcBef>
                <a:spcAft>
                  <a:spcPts val="0"/>
                </a:spcAft>
                <a:buClr>
                  <a:srgbClr val="7F1D1D"/>
                </a:buClr>
                <a:buSzPts val="1100"/>
                <a:buFont typeface="Calibri"/>
                <a:buChar char="●"/>
              </a:pPr>
              <a:r>
                <a:rPr lang="en-US" sz="1100">
                  <a:solidFill>
                    <a:srgbClr val="7F1D1D"/>
                  </a:solidFill>
                  <a:latin typeface="Calibri"/>
                  <a:ea typeface="Calibri"/>
                  <a:cs typeface="Calibri"/>
                  <a:sym typeface="Calibri"/>
                </a:rPr>
                <a:t>Incomplete deeplink catalog coverage.</a:t>
              </a:r>
              <a:endParaRPr sz="1100">
                <a:solidFill>
                  <a:srgbClr val="7F1D1D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457200" lvl="0" indent="-298450" algn="l" rtl="0">
                <a:spcBef>
                  <a:spcPts val="375"/>
                </a:spcBef>
                <a:spcAft>
                  <a:spcPts val="0"/>
                </a:spcAft>
                <a:buClr>
                  <a:srgbClr val="7F1D1D"/>
                </a:buClr>
                <a:buSzPts val="1100"/>
                <a:buFont typeface="Calibri"/>
                <a:buChar char="●"/>
              </a:pPr>
              <a:r>
                <a:rPr lang="en-US" sz="1100">
                  <a:solidFill>
                    <a:srgbClr val="7F1D1D"/>
                  </a:solidFill>
                  <a:latin typeface="Calibri"/>
                  <a:ea typeface="Calibri"/>
                  <a:cs typeface="Calibri"/>
                  <a:sym typeface="Calibri"/>
                </a:rPr>
                <a:t>Unhandled multi-intent complaints.</a:t>
              </a:r>
              <a:endParaRPr sz="1100">
                <a:solidFill>
                  <a:srgbClr val="7F1D1D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457200" lvl="0" indent="-298450" algn="l" rtl="0">
                <a:spcBef>
                  <a:spcPts val="375"/>
                </a:spcBef>
                <a:spcAft>
                  <a:spcPts val="0"/>
                </a:spcAft>
                <a:buClr>
                  <a:srgbClr val="7F1D1D"/>
                </a:buClr>
                <a:buSzPts val="1100"/>
                <a:buFont typeface="Calibri"/>
                <a:buChar char="●"/>
              </a:pPr>
              <a:r>
                <a:rPr lang="en-US" sz="1100">
                  <a:solidFill>
                    <a:srgbClr val="7F1D1D"/>
                  </a:solidFill>
                  <a:latin typeface="Calibri"/>
                  <a:ea typeface="Calibri"/>
                  <a:cs typeface="Calibri"/>
                  <a:sym typeface="Calibri"/>
                </a:rPr>
                <a:t>Variations in device settings hierarchies.</a:t>
              </a:r>
              <a:endParaRPr sz="1100">
                <a:solidFill>
                  <a:srgbClr val="7F1D1D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457200" lvl="0" indent="-298450" algn="l" rtl="0">
                <a:spcBef>
                  <a:spcPts val="375"/>
                </a:spcBef>
                <a:spcAft>
                  <a:spcPts val="0"/>
                </a:spcAft>
                <a:buClr>
                  <a:srgbClr val="7F1D1D"/>
                </a:buClr>
                <a:buSzPts val="1100"/>
                <a:buFont typeface="Calibri"/>
                <a:buChar char="●"/>
              </a:pPr>
              <a:r>
                <a:rPr lang="en-US" sz="1100">
                  <a:solidFill>
                    <a:srgbClr val="7F1D1D"/>
                  </a:solidFill>
                  <a:latin typeface="Calibri"/>
                  <a:ea typeface="Calibri"/>
                  <a:cs typeface="Calibri"/>
                  <a:sym typeface="Calibri"/>
                </a:rPr>
                <a:t>Dependence on the quality of reference articles.</a:t>
              </a:r>
              <a:endParaRPr sz="1100">
                <a:solidFill>
                  <a:srgbClr val="7F1D1D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8" name="Google Shape;328;p8"/>
          <p:cNvSpPr/>
          <p:nvPr/>
        </p:nvSpPr>
        <p:spPr>
          <a:xfrm>
            <a:off x="7191375" y="1095375"/>
            <a:ext cx="4238700" cy="5334000"/>
          </a:xfrm>
          <a:prstGeom prst="roundRect">
            <a:avLst>
              <a:gd name="adj" fmla="val 2696"/>
            </a:avLst>
          </a:prstGeom>
          <a:solidFill>
            <a:srgbClr val="FFFFFF"/>
          </a:solidFill>
          <a:ln w="14300" cap="flat" cmpd="sng">
            <a:solidFill>
              <a:srgbClr val="E9D5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29" name="Google Shape;329;p8"/>
          <p:cNvPicPr preferRelativeResize="0"/>
          <p:nvPr/>
        </p:nvPicPr>
        <p:blipFill rotWithShape="1">
          <a:blip r:embed="rId4">
            <a:alphaModFix/>
          </a:blip>
          <a:srcRect l="2999" r="2999"/>
          <a:stretch/>
        </p:blipFill>
        <p:spPr>
          <a:xfrm>
            <a:off x="7315200" y="1190625"/>
            <a:ext cx="39909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h1f3510bad6b775e2_88_1911"/>
          <p:cNvSpPr txBox="1">
            <a:spLocks noGrp="1"/>
          </p:cNvSpPr>
          <p:nvPr>
            <p:ph type="title"/>
          </p:nvPr>
        </p:nvSpPr>
        <p:spPr>
          <a:xfrm>
            <a:off x="762000" y="381000"/>
            <a:ext cx="10668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What’s next?</a:t>
            </a:r>
            <a:endParaRPr sz="3200" b="1">
              <a:solidFill>
                <a:srgbClr val="704EA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5" name="Google Shape;335;h1f3510bad6b775e2_88_19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6250" y="1238250"/>
            <a:ext cx="4857900" cy="48579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6" name="Google Shape;336;h1f3510bad6b775e2_88_1911"/>
          <p:cNvGrpSpPr/>
          <p:nvPr/>
        </p:nvGrpSpPr>
        <p:grpSpPr>
          <a:xfrm>
            <a:off x="5524500" y="1143000"/>
            <a:ext cx="2857500" cy="1619100"/>
            <a:chOff x="0" y="0"/>
            <a:chExt cx="2857500" cy="1619100"/>
          </a:xfrm>
        </p:grpSpPr>
        <p:sp>
          <p:nvSpPr>
            <p:cNvPr id="337" name="Google Shape;337;h1f3510bad6b775e2_88_1911"/>
            <p:cNvSpPr/>
            <p:nvPr/>
          </p:nvSpPr>
          <p:spPr>
            <a:xfrm>
              <a:off x="0" y="0"/>
              <a:ext cx="2857500" cy="1619100"/>
            </a:xfrm>
            <a:prstGeom prst="roundRect">
              <a:avLst>
                <a:gd name="adj" fmla="val 5882"/>
              </a:avLst>
            </a:prstGeom>
            <a:solidFill>
              <a:srgbClr val="FFFFFF"/>
            </a:solidFill>
            <a:ln w="14300" cap="flat" cmpd="sng">
              <a:solidFill>
                <a:srgbClr val="E9D5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h1f3510bad6b775e2_88_1911"/>
            <p:cNvSpPr txBox="1"/>
            <p:nvPr/>
          </p:nvSpPr>
          <p:spPr>
            <a:xfrm>
              <a:off x="152400" y="133350"/>
              <a:ext cx="2552700" cy="135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1">
                  <a:solidFill>
                    <a:srgbClr val="4C1D95"/>
                  </a:solidFill>
                  <a:latin typeface="Calibri"/>
                  <a:ea typeface="Calibri"/>
                  <a:cs typeface="Calibri"/>
                  <a:sym typeface="Calibri"/>
                </a:rPr>
                <a:t>1. Improved Query Understanding</a:t>
              </a:r>
              <a:endParaRPr sz="1300" b="1">
                <a:solidFill>
                  <a:srgbClr val="4C1D95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457200" lvl="0" indent="-295275" algn="l" rtl="0">
                <a:spcBef>
                  <a:spcPts val="450"/>
                </a:spcBef>
                <a:spcAft>
                  <a:spcPts val="0"/>
                </a:spcAft>
                <a:buClr>
                  <a:srgbClr val="4B5563"/>
                </a:buClr>
                <a:buSzPts val="1050"/>
                <a:buFont typeface="Calibri"/>
                <a:buChar char="●"/>
              </a:pPr>
              <a:r>
                <a:rPr lang="en-US" sz="1050">
                  <a:solidFill>
                    <a:srgbClr val="4B5563"/>
                  </a:solidFill>
                  <a:latin typeface="Calibri"/>
                  <a:ea typeface="Calibri"/>
                  <a:cs typeface="Calibri"/>
                  <a:sym typeface="Calibri"/>
                </a:rPr>
                <a:t>Enhance the interpretation of ambiguous and informal user complaints.</a:t>
              </a:r>
              <a:endParaRPr sz="105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457200" lvl="0" indent="-295275" algn="l" rtl="0">
                <a:spcBef>
                  <a:spcPts val="300"/>
                </a:spcBef>
                <a:spcAft>
                  <a:spcPts val="0"/>
                </a:spcAft>
                <a:buClr>
                  <a:srgbClr val="4B5563"/>
                </a:buClr>
                <a:buSzPts val="1050"/>
                <a:buFont typeface="Calibri"/>
                <a:buChar char="●"/>
              </a:pPr>
              <a:r>
                <a:rPr lang="en-US" sz="1050">
                  <a:solidFill>
                    <a:srgbClr val="4B5563"/>
                  </a:solidFill>
                  <a:latin typeface="Calibri"/>
                  <a:ea typeface="Calibri"/>
                  <a:cs typeface="Calibri"/>
                  <a:sym typeface="Calibri"/>
                </a:rPr>
                <a:t>Generate diverse query variations to improve matching accuracy.</a:t>
              </a:r>
              <a:endParaRPr sz="105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9" name="Google Shape;339;h1f3510bad6b775e2_88_1911"/>
          <p:cNvGrpSpPr/>
          <p:nvPr/>
        </p:nvGrpSpPr>
        <p:grpSpPr>
          <a:xfrm>
            <a:off x="8524875" y="1143000"/>
            <a:ext cx="2857500" cy="1619100"/>
            <a:chOff x="0" y="0"/>
            <a:chExt cx="2857500" cy="1619100"/>
          </a:xfrm>
        </p:grpSpPr>
        <p:sp>
          <p:nvSpPr>
            <p:cNvPr id="340" name="Google Shape;340;h1f3510bad6b775e2_88_1911"/>
            <p:cNvSpPr/>
            <p:nvPr/>
          </p:nvSpPr>
          <p:spPr>
            <a:xfrm>
              <a:off x="0" y="0"/>
              <a:ext cx="2857500" cy="1619100"/>
            </a:xfrm>
            <a:prstGeom prst="roundRect">
              <a:avLst>
                <a:gd name="adj" fmla="val 5882"/>
              </a:avLst>
            </a:prstGeom>
            <a:solidFill>
              <a:srgbClr val="FFFFFF"/>
            </a:solidFill>
            <a:ln w="14300" cap="flat" cmpd="sng">
              <a:solidFill>
                <a:srgbClr val="E9D5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h1f3510bad6b775e2_88_1911"/>
            <p:cNvSpPr txBox="1"/>
            <p:nvPr/>
          </p:nvSpPr>
          <p:spPr>
            <a:xfrm>
              <a:off x="152400" y="133350"/>
              <a:ext cx="2552700" cy="135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1">
                  <a:solidFill>
                    <a:srgbClr val="4C1D95"/>
                  </a:solidFill>
                  <a:latin typeface="Calibri"/>
                  <a:ea typeface="Calibri"/>
                  <a:cs typeface="Calibri"/>
                  <a:sym typeface="Calibri"/>
                </a:rPr>
                <a:t>2. Expanded Deeplink Coverage</a:t>
              </a:r>
              <a:endParaRPr sz="1300" b="1">
                <a:solidFill>
                  <a:srgbClr val="4C1D95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457200" lvl="0" indent="-295275" algn="l" rtl="0">
                <a:spcBef>
                  <a:spcPts val="450"/>
                </a:spcBef>
                <a:spcAft>
                  <a:spcPts val="0"/>
                </a:spcAft>
                <a:buClr>
                  <a:srgbClr val="4B5563"/>
                </a:buClr>
                <a:buSzPts val="1050"/>
                <a:buFont typeface="Calibri"/>
                <a:buChar char="●"/>
              </a:pPr>
              <a:r>
                <a:rPr lang="en-US" sz="1050">
                  <a:solidFill>
                    <a:srgbClr val="4B5563"/>
                  </a:solidFill>
                  <a:latin typeface="Calibri"/>
                  <a:ea typeface="Calibri"/>
                  <a:cs typeface="Calibri"/>
                  <a:sym typeface="Calibri"/>
                </a:rPr>
                <a:t>Extend deeplink catalog for wider device settings and troubleshooting.</a:t>
              </a:r>
              <a:endParaRPr sz="105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457200" lvl="0" indent="-295275" algn="l" rtl="0">
                <a:spcBef>
                  <a:spcPts val="300"/>
                </a:spcBef>
                <a:spcAft>
                  <a:spcPts val="0"/>
                </a:spcAft>
                <a:buClr>
                  <a:srgbClr val="4B5563"/>
                </a:buClr>
                <a:buSzPts val="1050"/>
                <a:buFont typeface="Calibri"/>
                <a:buChar char="●"/>
              </a:pPr>
              <a:r>
                <a:rPr lang="en-US" sz="1050">
                  <a:solidFill>
                    <a:srgbClr val="4B5563"/>
                  </a:solidFill>
                  <a:latin typeface="Calibri"/>
                  <a:ea typeface="Calibri"/>
                  <a:cs typeface="Calibri"/>
                  <a:sym typeface="Calibri"/>
                </a:rPr>
                <a:t>Improve screen-level matching for accurate navigation.</a:t>
              </a:r>
              <a:endParaRPr sz="105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2" name="Google Shape;342;h1f3510bad6b775e2_88_1911"/>
          <p:cNvGrpSpPr/>
          <p:nvPr/>
        </p:nvGrpSpPr>
        <p:grpSpPr>
          <a:xfrm>
            <a:off x="5524500" y="2876550"/>
            <a:ext cx="2857500" cy="1619100"/>
            <a:chOff x="0" y="0"/>
            <a:chExt cx="2857500" cy="1619100"/>
          </a:xfrm>
        </p:grpSpPr>
        <p:sp>
          <p:nvSpPr>
            <p:cNvPr id="343" name="Google Shape;343;h1f3510bad6b775e2_88_1911"/>
            <p:cNvSpPr/>
            <p:nvPr/>
          </p:nvSpPr>
          <p:spPr>
            <a:xfrm>
              <a:off x="0" y="0"/>
              <a:ext cx="2857500" cy="1619100"/>
            </a:xfrm>
            <a:prstGeom prst="roundRect">
              <a:avLst>
                <a:gd name="adj" fmla="val 5882"/>
              </a:avLst>
            </a:prstGeom>
            <a:solidFill>
              <a:srgbClr val="FFFFFF"/>
            </a:solidFill>
            <a:ln w="14300" cap="flat" cmpd="sng">
              <a:solidFill>
                <a:srgbClr val="E9D5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h1f3510bad6b775e2_88_1911"/>
            <p:cNvSpPr txBox="1"/>
            <p:nvPr/>
          </p:nvSpPr>
          <p:spPr>
            <a:xfrm>
              <a:off x="152400" y="133350"/>
              <a:ext cx="2552700" cy="135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1">
                  <a:solidFill>
                    <a:srgbClr val="4C1D95"/>
                  </a:solidFill>
                  <a:latin typeface="Calibri"/>
                  <a:ea typeface="Calibri"/>
                  <a:cs typeface="Calibri"/>
                  <a:sym typeface="Calibri"/>
                </a:rPr>
                <a:t>3. Multi-Intent Support</a:t>
              </a:r>
              <a:endParaRPr sz="1300" b="1">
                <a:solidFill>
                  <a:srgbClr val="4C1D95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457200" lvl="0" indent="-295275" algn="l" rtl="0">
                <a:spcBef>
                  <a:spcPts val="450"/>
                </a:spcBef>
                <a:spcAft>
                  <a:spcPts val="0"/>
                </a:spcAft>
                <a:buClr>
                  <a:srgbClr val="4B5563"/>
                </a:buClr>
                <a:buSzPts val="1050"/>
                <a:buFont typeface="Calibri"/>
                <a:buChar char="●"/>
              </a:pPr>
              <a:r>
                <a:rPr lang="en-US" sz="1050">
                  <a:solidFill>
                    <a:srgbClr val="4B5563"/>
                  </a:solidFill>
                  <a:latin typeface="Calibri"/>
                  <a:ea typeface="Calibri"/>
                  <a:cs typeface="Calibri"/>
                  <a:sym typeface="Calibri"/>
                </a:rPr>
                <a:t>Identify and process multiple issues within a single complaint.</a:t>
              </a:r>
              <a:endParaRPr sz="105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457200" lvl="0" indent="-295275" algn="l" rtl="0">
                <a:spcBef>
                  <a:spcPts val="300"/>
                </a:spcBef>
                <a:spcAft>
                  <a:spcPts val="0"/>
                </a:spcAft>
                <a:buClr>
                  <a:srgbClr val="4B5563"/>
                </a:buClr>
                <a:buSzPts val="1050"/>
                <a:buFont typeface="Calibri"/>
                <a:buChar char="●"/>
              </a:pPr>
              <a:r>
                <a:rPr lang="en-US" sz="1050">
                  <a:solidFill>
                    <a:srgbClr val="4B5563"/>
                  </a:solidFill>
                  <a:latin typeface="Calibri"/>
                  <a:ea typeface="Calibri"/>
                  <a:cs typeface="Calibri"/>
                  <a:sym typeface="Calibri"/>
                </a:rPr>
                <a:t>Generate separate, structured plans for each identified issue.</a:t>
              </a:r>
              <a:endParaRPr sz="105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5" name="Google Shape;345;h1f3510bad6b775e2_88_1911"/>
          <p:cNvGrpSpPr/>
          <p:nvPr/>
        </p:nvGrpSpPr>
        <p:grpSpPr>
          <a:xfrm>
            <a:off x="8524875" y="2876550"/>
            <a:ext cx="2857500" cy="1619100"/>
            <a:chOff x="0" y="0"/>
            <a:chExt cx="2857500" cy="1619100"/>
          </a:xfrm>
        </p:grpSpPr>
        <p:sp>
          <p:nvSpPr>
            <p:cNvPr id="346" name="Google Shape;346;h1f3510bad6b775e2_88_1911"/>
            <p:cNvSpPr/>
            <p:nvPr/>
          </p:nvSpPr>
          <p:spPr>
            <a:xfrm>
              <a:off x="0" y="0"/>
              <a:ext cx="2857500" cy="1619100"/>
            </a:xfrm>
            <a:prstGeom prst="roundRect">
              <a:avLst>
                <a:gd name="adj" fmla="val 5882"/>
              </a:avLst>
            </a:prstGeom>
            <a:solidFill>
              <a:srgbClr val="FFFFFF"/>
            </a:solidFill>
            <a:ln w="14300" cap="flat" cmpd="sng">
              <a:solidFill>
                <a:srgbClr val="E9D5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h1f3510bad6b775e2_88_1911"/>
            <p:cNvSpPr txBox="1"/>
            <p:nvPr/>
          </p:nvSpPr>
          <p:spPr>
            <a:xfrm>
              <a:off x="152400" y="133350"/>
              <a:ext cx="2552700" cy="135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1">
                  <a:solidFill>
                    <a:srgbClr val="4C1D95"/>
                  </a:solidFill>
                  <a:latin typeface="Calibri"/>
                  <a:ea typeface="Calibri"/>
                  <a:cs typeface="Calibri"/>
                  <a:sym typeface="Calibri"/>
                </a:rPr>
                <a:t>4. Retrieval Improvements</a:t>
              </a:r>
              <a:endParaRPr sz="1300" b="1">
                <a:solidFill>
                  <a:srgbClr val="4C1D95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457200" lvl="0" indent="-295275" algn="l" rtl="0">
                <a:spcBef>
                  <a:spcPts val="450"/>
                </a:spcBef>
                <a:spcAft>
                  <a:spcPts val="0"/>
                </a:spcAft>
                <a:buClr>
                  <a:srgbClr val="4B5563"/>
                </a:buClr>
                <a:buSzPts val="1050"/>
                <a:buFont typeface="Calibri"/>
                <a:buChar char="●"/>
              </a:pPr>
              <a:r>
                <a:rPr lang="en-US" sz="1050">
                  <a:solidFill>
                    <a:srgbClr val="4B5563"/>
                  </a:solidFill>
                  <a:latin typeface="Calibri"/>
                  <a:ea typeface="Calibri"/>
                  <a:cs typeface="Calibri"/>
                  <a:sym typeface="Calibri"/>
                </a:rPr>
                <a:t>Enhance semantic and keyword retrieval matching accuracy.</a:t>
              </a:r>
              <a:endParaRPr sz="105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457200" lvl="0" indent="-295275" algn="l" rtl="0">
                <a:spcBef>
                  <a:spcPts val="300"/>
                </a:spcBef>
                <a:spcAft>
                  <a:spcPts val="0"/>
                </a:spcAft>
                <a:buClr>
                  <a:srgbClr val="4B5563"/>
                </a:buClr>
                <a:buSzPts val="1050"/>
                <a:buFont typeface="Calibri"/>
                <a:buChar char="●"/>
              </a:pPr>
              <a:r>
                <a:rPr lang="en-US" sz="1050">
                  <a:solidFill>
                    <a:srgbClr val="4B5563"/>
                  </a:solidFill>
                  <a:latin typeface="Calibri"/>
                  <a:ea typeface="Calibri"/>
                  <a:cs typeface="Calibri"/>
                  <a:sym typeface="Calibri"/>
                </a:rPr>
                <a:t>Minimize incorrect parent-menu matches for relevant screens.</a:t>
              </a:r>
              <a:endParaRPr sz="105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8" name="Google Shape;348;h1f3510bad6b775e2_88_1911"/>
          <p:cNvGrpSpPr/>
          <p:nvPr/>
        </p:nvGrpSpPr>
        <p:grpSpPr>
          <a:xfrm>
            <a:off x="5524500" y="4610100"/>
            <a:ext cx="2857500" cy="1619100"/>
            <a:chOff x="0" y="0"/>
            <a:chExt cx="2857500" cy="1619100"/>
          </a:xfrm>
        </p:grpSpPr>
        <p:sp>
          <p:nvSpPr>
            <p:cNvPr id="349" name="Google Shape;349;h1f3510bad6b775e2_88_1911"/>
            <p:cNvSpPr/>
            <p:nvPr/>
          </p:nvSpPr>
          <p:spPr>
            <a:xfrm>
              <a:off x="0" y="0"/>
              <a:ext cx="2857500" cy="1619100"/>
            </a:xfrm>
            <a:prstGeom prst="roundRect">
              <a:avLst>
                <a:gd name="adj" fmla="val 5882"/>
              </a:avLst>
            </a:prstGeom>
            <a:solidFill>
              <a:srgbClr val="FFFFFF"/>
            </a:solidFill>
            <a:ln w="14300" cap="flat" cmpd="sng">
              <a:solidFill>
                <a:srgbClr val="E9D5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h1f3510bad6b775e2_88_1911"/>
            <p:cNvSpPr txBox="1"/>
            <p:nvPr/>
          </p:nvSpPr>
          <p:spPr>
            <a:xfrm>
              <a:off x="152400" y="133350"/>
              <a:ext cx="2552700" cy="135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1">
                  <a:solidFill>
                    <a:srgbClr val="4C1D95"/>
                  </a:solidFill>
                  <a:latin typeface="Calibri"/>
                  <a:ea typeface="Calibri"/>
                  <a:cs typeface="Calibri"/>
                  <a:sym typeface="Calibri"/>
                </a:rPr>
                <a:t>5. Performance Optimization</a:t>
              </a:r>
              <a:endParaRPr sz="1300" b="1">
                <a:solidFill>
                  <a:srgbClr val="4C1D95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457200" lvl="0" indent="-295275" algn="l" rtl="0">
                <a:spcBef>
                  <a:spcPts val="450"/>
                </a:spcBef>
                <a:spcAft>
                  <a:spcPts val="0"/>
                </a:spcAft>
                <a:buClr>
                  <a:srgbClr val="4B5563"/>
                </a:buClr>
                <a:buSzPts val="1050"/>
                <a:buFont typeface="Calibri"/>
                <a:buChar char="●"/>
              </a:pPr>
              <a:r>
                <a:rPr lang="en-US" sz="1050">
                  <a:solidFill>
                    <a:srgbClr val="4B5563"/>
                  </a:solidFill>
                  <a:latin typeface="Calibri"/>
                  <a:ea typeface="Calibri"/>
                  <a:cs typeface="Calibri"/>
                  <a:sym typeface="Calibri"/>
                </a:rPr>
                <a:t>Improve semantic caching efficiency for faster responses.</a:t>
              </a:r>
              <a:endParaRPr sz="105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457200" lvl="0" indent="-295275" algn="l" rtl="0">
                <a:spcBef>
                  <a:spcPts val="300"/>
                </a:spcBef>
                <a:spcAft>
                  <a:spcPts val="0"/>
                </a:spcAft>
                <a:buClr>
                  <a:srgbClr val="4B5563"/>
                </a:buClr>
                <a:buSzPts val="1050"/>
                <a:buFont typeface="Calibri"/>
                <a:buChar char="●"/>
              </a:pPr>
              <a:r>
                <a:rPr lang="en-US" sz="1050">
                  <a:solidFill>
                    <a:srgbClr val="4B5563"/>
                  </a:solidFill>
                  <a:latin typeface="Calibri"/>
                  <a:ea typeface="Calibri"/>
                  <a:cs typeface="Calibri"/>
                  <a:sym typeface="Calibri"/>
                </a:rPr>
                <a:t>Optimize cold-query processing to reduce latency.</a:t>
              </a:r>
              <a:endParaRPr sz="105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1" name="Google Shape;351;h1f3510bad6b775e2_88_1911"/>
          <p:cNvGrpSpPr/>
          <p:nvPr/>
        </p:nvGrpSpPr>
        <p:grpSpPr>
          <a:xfrm>
            <a:off x="8524875" y="4610100"/>
            <a:ext cx="2857500" cy="1619100"/>
            <a:chOff x="0" y="0"/>
            <a:chExt cx="2857500" cy="1619100"/>
          </a:xfrm>
        </p:grpSpPr>
        <p:sp>
          <p:nvSpPr>
            <p:cNvPr id="352" name="Google Shape;352;h1f3510bad6b775e2_88_1911"/>
            <p:cNvSpPr/>
            <p:nvPr/>
          </p:nvSpPr>
          <p:spPr>
            <a:xfrm>
              <a:off x="0" y="0"/>
              <a:ext cx="2857500" cy="1619100"/>
            </a:xfrm>
            <a:prstGeom prst="roundRect">
              <a:avLst>
                <a:gd name="adj" fmla="val 5882"/>
              </a:avLst>
            </a:prstGeom>
            <a:solidFill>
              <a:srgbClr val="FFFFFF"/>
            </a:solidFill>
            <a:ln w="14300" cap="flat" cmpd="sng">
              <a:solidFill>
                <a:srgbClr val="E9D5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h1f3510bad6b775e2_88_1911"/>
            <p:cNvSpPr txBox="1"/>
            <p:nvPr/>
          </p:nvSpPr>
          <p:spPr>
            <a:xfrm>
              <a:off x="152400" y="133350"/>
              <a:ext cx="2552700" cy="135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1">
                  <a:solidFill>
                    <a:srgbClr val="4C1D95"/>
                  </a:solidFill>
                  <a:latin typeface="Calibri"/>
                  <a:ea typeface="Calibri"/>
                  <a:cs typeface="Calibri"/>
                  <a:sym typeface="Calibri"/>
                </a:rPr>
                <a:t>6. Broader Device Support</a:t>
              </a:r>
              <a:endParaRPr sz="1300" b="1">
                <a:solidFill>
                  <a:srgbClr val="4C1D95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457200" lvl="0" indent="-295275" algn="l" rtl="0">
                <a:spcBef>
                  <a:spcPts val="450"/>
                </a:spcBef>
                <a:spcAft>
                  <a:spcPts val="0"/>
                </a:spcAft>
                <a:buClr>
                  <a:srgbClr val="4B5563"/>
                </a:buClr>
                <a:buSzPts val="1050"/>
                <a:buFont typeface="Calibri"/>
                <a:buChar char="●"/>
              </a:pPr>
              <a:r>
                <a:rPr lang="en-US" sz="1050">
                  <a:solidFill>
                    <a:srgbClr val="4B5563"/>
                  </a:solidFill>
                  <a:latin typeface="Calibri"/>
                  <a:ea typeface="Calibri"/>
                  <a:cs typeface="Calibri"/>
                  <a:sym typeface="Calibri"/>
                </a:rPr>
                <a:t>Extend troubleshooting capabilities to wider device models.</a:t>
              </a:r>
              <a:endParaRPr sz="105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457200" lvl="0" indent="-295275" algn="l" rtl="0">
                <a:spcBef>
                  <a:spcPts val="300"/>
                </a:spcBef>
                <a:spcAft>
                  <a:spcPts val="0"/>
                </a:spcAft>
                <a:buClr>
                  <a:srgbClr val="4B5563"/>
                </a:buClr>
                <a:buSzPts val="1050"/>
                <a:buFont typeface="Calibri"/>
                <a:buChar char="●"/>
              </a:pPr>
              <a:r>
                <a:rPr lang="en-US" sz="1050">
                  <a:solidFill>
                    <a:srgbClr val="4B5563"/>
                  </a:solidFill>
                  <a:latin typeface="Calibri"/>
                  <a:ea typeface="Calibri"/>
                  <a:cs typeface="Calibri"/>
                  <a:sym typeface="Calibri"/>
                </a:rPr>
                <a:t>Adapt instructions and deeplinks across software versions.</a:t>
              </a:r>
              <a:endParaRPr sz="105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h1f3510bad6b775e2_88_2116"/>
          <p:cNvSpPr txBox="1">
            <a:spLocks noGrp="1"/>
          </p:cNvSpPr>
          <p:nvPr>
            <p:ph type="title"/>
          </p:nvPr>
        </p:nvSpPr>
        <p:spPr>
          <a:xfrm>
            <a:off x="762000" y="381000"/>
            <a:ext cx="10668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Brownie points slide( differentiation)</a:t>
            </a:r>
            <a:endParaRPr sz="3200" b="1" i="0">
              <a:solidFill>
                <a:srgbClr val="704EA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9" name="Google Shape;359;h1f3510bad6b775e2_88_21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000" y="1428750"/>
            <a:ext cx="4572000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h1f3510bad6b775e2_88_2116"/>
          <p:cNvSpPr txBox="1"/>
          <p:nvPr/>
        </p:nvSpPr>
        <p:spPr>
          <a:xfrm>
            <a:off x="5143500" y="1095375"/>
            <a:ext cx="6477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4C1D95"/>
                </a:solidFill>
                <a:latin typeface="Calibri"/>
                <a:ea typeface="Calibri"/>
                <a:cs typeface="Calibri"/>
                <a:sym typeface="Calibri"/>
              </a:rPr>
              <a:t>What Makes FixPath Different?</a:t>
            </a:r>
            <a:endParaRPr sz="1500" b="1">
              <a:solidFill>
                <a:srgbClr val="4C1D9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h1f3510bad6b775e2_88_2116"/>
          <p:cNvSpPr txBox="1"/>
          <p:nvPr/>
        </p:nvSpPr>
        <p:spPr>
          <a:xfrm>
            <a:off x="5286375" y="1476375"/>
            <a:ext cx="3000300" cy="104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4C1D95"/>
                </a:solidFill>
                <a:latin typeface="Calibri"/>
                <a:ea typeface="Calibri"/>
                <a:cs typeface="Calibri"/>
                <a:sym typeface="Calibri"/>
              </a:rPr>
              <a:t>Semantic Understanding</a:t>
            </a:r>
            <a:endParaRPr b="1">
              <a:solidFill>
                <a:srgbClr val="4C1D9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Interprets informal complaints using query normalization and multiple variations instead of relying on exact keyword matches.</a:t>
            </a:r>
            <a:endParaRPr sz="1100" b="0">
              <a:solidFill>
                <a:srgbClr val="4B55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2" name="Google Shape;362;h1f3510bad6b775e2_88_2116"/>
          <p:cNvCxnSpPr/>
          <p:nvPr/>
        </p:nvCxnSpPr>
        <p:spPr>
          <a:xfrm>
            <a:off x="5143500" y="1476375"/>
            <a:ext cx="0" cy="952500"/>
          </a:xfrm>
          <a:prstGeom prst="straightConnector1">
            <a:avLst/>
          </a:prstGeom>
          <a:solidFill>
            <a:srgbClr val="FFFFFF"/>
          </a:solidFill>
          <a:ln w="28575" cap="rnd" cmpd="sng">
            <a:solidFill>
              <a:srgbClr val="704EA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3" name="Google Shape;363;h1f3510bad6b775e2_88_2116"/>
          <p:cNvSpPr txBox="1"/>
          <p:nvPr/>
        </p:nvSpPr>
        <p:spPr>
          <a:xfrm>
            <a:off x="8572500" y="1476375"/>
            <a:ext cx="3000300" cy="104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4C1D95"/>
                </a:solidFill>
                <a:latin typeface="Calibri"/>
                <a:ea typeface="Calibri"/>
                <a:cs typeface="Calibri"/>
                <a:sym typeface="Calibri"/>
              </a:rPr>
              <a:t>Grounded Troubleshooting</a:t>
            </a:r>
            <a:endParaRPr b="1">
              <a:solidFill>
                <a:srgbClr val="4C1D9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Extracts instructions from reference articles rather than generating potentially unsupported solutions.</a:t>
            </a:r>
            <a:endParaRPr sz="1100" b="0">
              <a:solidFill>
                <a:srgbClr val="4B55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4" name="Google Shape;364;h1f3510bad6b775e2_88_2116"/>
          <p:cNvCxnSpPr/>
          <p:nvPr/>
        </p:nvCxnSpPr>
        <p:spPr>
          <a:xfrm>
            <a:off x="8429625" y="1476375"/>
            <a:ext cx="0" cy="952500"/>
          </a:xfrm>
          <a:prstGeom prst="straightConnector1">
            <a:avLst/>
          </a:prstGeom>
          <a:solidFill>
            <a:srgbClr val="FFFFFF"/>
          </a:solidFill>
          <a:ln w="28575" cap="rnd" cmpd="sng">
            <a:solidFill>
              <a:srgbClr val="704EA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5" name="Google Shape;365;h1f3510bad6b775e2_88_2116"/>
          <p:cNvSpPr txBox="1"/>
          <p:nvPr/>
        </p:nvSpPr>
        <p:spPr>
          <a:xfrm>
            <a:off x="5286375" y="2714625"/>
            <a:ext cx="3000300" cy="104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4C1D95"/>
                </a:solidFill>
                <a:latin typeface="Calibri"/>
                <a:ea typeface="Calibri"/>
                <a:cs typeface="Calibri"/>
                <a:sym typeface="Calibri"/>
              </a:rPr>
              <a:t>Screen-Level Deeplinks</a:t>
            </a:r>
            <a:endParaRPr b="1">
              <a:solidFill>
                <a:srgbClr val="4C1D9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Maps individual troubleshooting actions to specific settings screens instead of providing general navigation instructions.</a:t>
            </a:r>
            <a:endParaRPr sz="1100" b="0">
              <a:solidFill>
                <a:srgbClr val="4B55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6" name="Google Shape;366;h1f3510bad6b775e2_88_2116"/>
          <p:cNvCxnSpPr/>
          <p:nvPr/>
        </p:nvCxnSpPr>
        <p:spPr>
          <a:xfrm>
            <a:off x="5143500" y="2714625"/>
            <a:ext cx="0" cy="952500"/>
          </a:xfrm>
          <a:prstGeom prst="straightConnector1">
            <a:avLst/>
          </a:prstGeom>
          <a:solidFill>
            <a:srgbClr val="FFFFFF"/>
          </a:solidFill>
          <a:ln w="28575" cap="rnd" cmpd="sng">
            <a:solidFill>
              <a:srgbClr val="704EA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7" name="Google Shape;367;h1f3510bad6b775e2_88_2116"/>
          <p:cNvSpPr txBox="1"/>
          <p:nvPr/>
        </p:nvSpPr>
        <p:spPr>
          <a:xfrm>
            <a:off x="8572500" y="2714625"/>
            <a:ext cx="3000300" cy="104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4C1D95"/>
                </a:solidFill>
                <a:latin typeface="Calibri"/>
                <a:ea typeface="Calibri"/>
                <a:cs typeface="Calibri"/>
                <a:sym typeface="Calibri"/>
              </a:rPr>
              <a:t>Safety-First Sequencing</a:t>
            </a:r>
            <a:endParaRPr b="1">
              <a:solidFill>
                <a:srgbClr val="4C1D9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Prioritizes less disruptive actions and places critical operations, such as factory resets, last.</a:t>
            </a:r>
            <a:endParaRPr sz="1100" b="0">
              <a:solidFill>
                <a:srgbClr val="4B55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8" name="Google Shape;368;h1f3510bad6b775e2_88_2116"/>
          <p:cNvCxnSpPr/>
          <p:nvPr/>
        </p:nvCxnSpPr>
        <p:spPr>
          <a:xfrm>
            <a:off x="8429625" y="2714625"/>
            <a:ext cx="0" cy="952500"/>
          </a:xfrm>
          <a:prstGeom prst="straightConnector1">
            <a:avLst/>
          </a:prstGeom>
          <a:solidFill>
            <a:srgbClr val="FFFFFF"/>
          </a:solidFill>
          <a:ln w="28575" cap="rnd" cmpd="sng">
            <a:solidFill>
              <a:srgbClr val="704EA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9" name="Google Shape;369;h1f3510bad6b775e2_88_2116"/>
          <p:cNvSpPr txBox="1"/>
          <p:nvPr/>
        </p:nvSpPr>
        <p:spPr>
          <a:xfrm>
            <a:off x="5286375" y="3952875"/>
            <a:ext cx="3000300" cy="104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4C1D95"/>
                </a:solidFill>
                <a:latin typeface="Calibri"/>
                <a:ea typeface="Calibri"/>
                <a:cs typeface="Calibri"/>
                <a:sym typeface="Calibri"/>
              </a:rPr>
              <a:t>Strict Output Validation</a:t>
            </a:r>
            <a:endParaRPr b="1">
              <a:solidFill>
                <a:srgbClr val="4C1D9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Enforces a predefined JSON schema and prevents fabricated or modified URLs.</a:t>
            </a:r>
            <a:endParaRPr sz="1100" b="0">
              <a:solidFill>
                <a:srgbClr val="4B55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0" name="Google Shape;370;h1f3510bad6b775e2_88_2116"/>
          <p:cNvCxnSpPr/>
          <p:nvPr/>
        </p:nvCxnSpPr>
        <p:spPr>
          <a:xfrm>
            <a:off x="5143500" y="3952875"/>
            <a:ext cx="0" cy="952500"/>
          </a:xfrm>
          <a:prstGeom prst="straightConnector1">
            <a:avLst/>
          </a:prstGeom>
          <a:solidFill>
            <a:srgbClr val="FFFFFF"/>
          </a:solidFill>
          <a:ln w="28575" cap="rnd" cmpd="sng">
            <a:solidFill>
              <a:srgbClr val="704EA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71" name="Google Shape;371;h1f3510bad6b775e2_88_2116"/>
          <p:cNvSpPr txBox="1"/>
          <p:nvPr/>
        </p:nvSpPr>
        <p:spPr>
          <a:xfrm>
            <a:off x="8572500" y="3952875"/>
            <a:ext cx="3000300" cy="104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4C1D95"/>
                </a:solidFill>
                <a:latin typeface="Calibri"/>
                <a:ea typeface="Calibri"/>
                <a:cs typeface="Calibri"/>
                <a:sym typeface="Calibri"/>
              </a:rPr>
              <a:t>Intelligent Semantic Caching</a:t>
            </a:r>
            <a:endParaRPr b="1">
              <a:solidFill>
                <a:srgbClr val="4C1D9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Recognizes similar queries and retrieves previously validated plans instead of repeatedly processing them.</a:t>
            </a:r>
            <a:endParaRPr sz="1100" b="0">
              <a:solidFill>
                <a:srgbClr val="4B55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2" name="Google Shape;372;h1f3510bad6b775e2_88_2116"/>
          <p:cNvCxnSpPr/>
          <p:nvPr/>
        </p:nvCxnSpPr>
        <p:spPr>
          <a:xfrm>
            <a:off x="8429625" y="3952875"/>
            <a:ext cx="0" cy="952500"/>
          </a:xfrm>
          <a:prstGeom prst="straightConnector1">
            <a:avLst/>
          </a:prstGeom>
          <a:solidFill>
            <a:srgbClr val="FFFFFF"/>
          </a:solidFill>
          <a:ln w="28575" cap="rnd" cmpd="sng">
            <a:solidFill>
              <a:srgbClr val="704EA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73" name="Google Shape;373;h1f3510bad6b775e2_88_2116"/>
          <p:cNvSpPr txBox="1"/>
          <p:nvPr/>
        </p:nvSpPr>
        <p:spPr>
          <a:xfrm>
            <a:off x="5286375" y="5191125"/>
            <a:ext cx="3000300" cy="104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4C1D95"/>
                </a:solidFill>
                <a:latin typeface="Calibri"/>
                <a:ea typeface="Calibri"/>
                <a:cs typeface="Calibri"/>
                <a:sym typeface="Calibri"/>
              </a:rPr>
              <a:t>Deterministic Responses</a:t>
            </a:r>
            <a:endParaRPr b="1">
              <a:solidFill>
                <a:srgbClr val="4C1D9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Produces consistent, structured outputs rather than relying on probabilistic text generation</a:t>
            </a:r>
            <a:r>
              <a:rPr lang="en-US" sz="1000" b="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000" b="0">
              <a:solidFill>
                <a:srgbClr val="4B55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4" name="Google Shape;374;h1f3510bad6b775e2_88_2116"/>
          <p:cNvCxnSpPr/>
          <p:nvPr/>
        </p:nvCxnSpPr>
        <p:spPr>
          <a:xfrm>
            <a:off x="5143500" y="5191125"/>
            <a:ext cx="0" cy="952500"/>
          </a:xfrm>
          <a:prstGeom prst="straightConnector1">
            <a:avLst/>
          </a:prstGeom>
          <a:solidFill>
            <a:srgbClr val="FFFFFF"/>
          </a:solidFill>
          <a:ln w="28575" cap="rnd" cmpd="sng">
            <a:solidFill>
              <a:srgbClr val="704EA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75" name="Google Shape;375;h1f3510bad6b775e2_88_2116"/>
          <p:cNvSpPr txBox="1"/>
          <p:nvPr/>
        </p:nvSpPr>
        <p:spPr>
          <a:xfrm>
            <a:off x="8572500" y="5191125"/>
            <a:ext cx="3000300" cy="104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4C1D95"/>
                </a:solidFill>
                <a:latin typeface="Calibri"/>
                <a:ea typeface="Calibri"/>
                <a:cs typeface="Calibri"/>
                <a:sym typeface="Calibri"/>
              </a:rPr>
              <a:t>Zero LLM Inference</a:t>
            </a:r>
            <a:endParaRPr b="1">
              <a:solidFill>
                <a:srgbClr val="4C1D9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Eliminates external LLM inference during request processing, reducing dependency on model availability and costs.</a:t>
            </a:r>
            <a:endParaRPr sz="1100" b="0">
              <a:solidFill>
                <a:srgbClr val="4B55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6" name="Google Shape;376;h1f3510bad6b775e2_88_2116"/>
          <p:cNvCxnSpPr/>
          <p:nvPr/>
        </p:nvCxnSpPr>
        <p:spPr>
          <a:xfrm>
            <a:off x="8429625" y="5191125"/>
            <a:ext cx="0" cy="952500"/>
          </a:xfrm>
          <a:prstGeom prst="straightConnector1">
            <a:avLst/>
          </a:prstGeom>
          <a:solidFill>
            <a:srgbClr val="FFFFFF"/>
          </a:solidFill>
          <a:ln w="28575" cap="rnd" cmpd="sng">
            <a:solidFill>
              <a:srgbClr val="704EA6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1" name="Google Shape;381;h1f3510bad6b775e2_88_2714"/>
          <p:cNvGrpSpPr/>
          <p:nvPr/>
        </p:nvGrpSpPr>
        <p:grpSpPr>
          <a:xfrm>
            <a:off x="762000" y="381000"/>
            <a:ext cx="10668000" cy="571500"/>
            <a:chOff x="0" y="0"/>
            <a:chExt cx="10668000" cy="571500"/>
          </a:xfrm>
        </p:grpSpPr>
        <p:sp>
          <p:nvSpPr>
            <p:cNvPr id="382" name="Google Shape;382;h1f3510bad6b775e2_88_2714"/>
            <p:cNvSpPr/>
            <p:nvPr/>
          </p:nvSpPr>
          <p:spPr>
            <a:xfrm>
              <a:off x="0" y="0"/>
              <a:ext cx="106680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h1f3510bad6b775e2_88_2714"/>
            <p:cNvSpPr txBox="1"/>
            <p:nvPr/>
          </p:nvSpPr>
          <p:spPr>
            <a:xfrm>
              <a:off x="0" y="0"/>
              <a:ext cx="10668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b="1">
                  <a:solidFill>
                    <a:srgbClr val="704EA6"/>
                  </a:solidFill>
                  <a:latin typeface="Calibri"/>
                  <a:ea typeface="Calibri"/>
                  <a:cs typeface="Calibri"/>
                  <a:sym typeface="Calibri"/>
                </a:rPr>
                <a:t>Checklist - Updated on Public GitHub</a:t>
              </a:r>
              <a:endParaRPr sz="32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4" name="Google Shape;384;h1f3510bad6b775e2_88_2714"/>
          <p:cNvGrpSpPr/>
          <p:nvPr/>
        </p:nvGrpSpPr>
        <p:grpSpPr>
          <a:xfrm>
            <a:off x="762000" y="1333500"/>
            <a:ext cx="5143500" cy="2095500"/>
            <a:chOff x="0" y="0"/>
            <a:chExt cx="5143500" cy="2095500"/>
          </a:xfrm>
        </p:grpSpPr>
        <p:sp>
          <p:nvSpPr>
            <p:cNvPr id="385" name="Google Shape;385;h1f3510bad6b775e2_88_2714"/>
            <p:cNvSpPr/>
            <p:nvPr/>
          </p:nvSpPr>
          <p:spPr>
            <a:xfrm>
              <a:off x="0" y="0"/>
              <a:ext cx="5143500" cy="2095500"/>
            </a:xfrm>
            <a:prstGeom prst="roundRect">
              <a:avLst>
                <a:gd name="adj" fmla="val 7272"/>
              </a:avLst>
            </a:prstGeom>
            <a:solidFill>
              <a:srgbClr val="FFFFFF"/>
            </a:solidFill>
            <a:ln w="19050" cap="flat" cmpd="sng">
              <a:solidFill>
                <a:srgbClr val="E9D5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h1f3510bad6b775e2_88_2714"/>
            <p:cNvSpPr/>
            <p:nvPr/>
          </p:nvSpPr>
          <p:spPr>
            <a:xfrm>
              <a:off x="257175" y="257175"/>
              <a:ext cx="533400" cy="533400"/>
            </a:xfrm>
            <a:prstGeom prst="ellipse">
              <a:avLst/>
            </a:prstGeom>
            <a:solidFill>
              <a:srgbClr val="F3E8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h1f3510bad6b775e2_88_2714"/>
            <p:cNvSpPr txBox="1"/>
            <p:nvPr/>
          </p:nvSpPr>
          <p:spPr>
            <a:xfrm>
              <a:off x="1000125" y="304800"/>
              <a:ext cx="3857700" cy="14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dirty="0">
                  <a:solidFill>
                    <a:srgbClr val="4C1D95"/>
                  </a:solidFill>
                  <a:latin typeface="Calibri"/>
                  <a:ea typeface="Calibri"/>
                  <a:cs typeface="Calibri"/>
                  <a:sym typeface="Calibri"/>
                </a:rPr>
                <a:t>Working Prototype Code</a:t>
              </a:r>
              <a:endParaRPr sz="2000" b="1" dirty="0">
                <a:solidFill>
                  <a:srgbClr val="4C1D95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400" dirty="0">
                  <a:solidFill>
                    <a:srgbClr val="4B5563"/>
                  </a:solidFill>
                  <a:latin typeface="Calibri"/>
                  <a:ea typeface="Calibri"/>
                  <a:cs typeface="Calibri"/>
                  <a:sym typeface="Calibri"/>
                </a:rPr>
                <a:t>Hosted on a public or shared GitHub repository</a:t>
              </a:r>
              <a:endParaRPr sz="1400" dirty="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1350"/>
                </a:spcBef>
                <a:spcAft>
                  <a:spcPts val="0"/>
                </a:spcAft>
                <a:buNone/>
              </a:pPr>
              <a:r>
                <a:rPr lang="en-US" sz="1100" b="1" dirty="0">
                  <a:solidFill>
                    <a:srgbClr val="704EA6"/>
                  </a:solidFill>
                  <a:highlight>
                    <a:srgbClr val="F3E8FF"/>
                  </a:highlight>
                  <a:latin typeface="Calibri"/>
                  <a:ea typeface="Calibri"/>
                  <a:cs typeface="Calibri"/>
                  <a:sym typeface="Calibri"/>
                </a:rPr>
                <a:t>Status: Y</a:t>
              </a:r>
            </a:p>
          </p:txBody>
        </p:sp>
      </p:grpSp>
      <p:grpSp>
        <p:nvGrpSpPr>
          <p:cNvPr id="389" name="Google Shape;389;h1f3510bad6b775e2_88_2714"/>
          <p:cNvGrpSpPr/>
          <p:nvPr/>
        </p:nvGrpSpPr>
        <p:grpSpPr>
          <a:xfrm>
            <a:off x="6286500" y="1333500"/>
            <a:ext cx="5143500" cy="2095500"/>
            <a:chOff x="0" y="0"/>
            <a:chExt cx="5143500" cy="2095500"/>
          </a:xfrm>
        </p:grpSpPr>
        <p:sp>
          <p:nvSpPr>
            <p:cNvPr id="390" name="Google Shape;390;h1f3510bad6b775e2_88_2714"/>
            <p:cNvSpPr/>
            <p:nvPr/>
          </p:nvSpPr>
          <p:spPr>
            <a:xfrm>
              <a:off x="0" y="0"/>
              <a:ext cx="5143500" cy="2095500"/>
            </a:xfrm>
            <a:prstGeom prst="roundRect">
              <a:avLst>
                <a:gd name="adj" fmla="val 7272"/>
              </a:avLst>
            </a:prstGeom>
            <a:solidFill>
              <a:srgbClr val="FFFFFF"/>
            </a:solidFill>
            <a:ln w="19050" cap="flat" cmpd="sng">
              <a:solidFill>
                <a:srgbClr val="E9D5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h1f3510bad6b775e2_88_2714"/>
            <p:cNvSpPr/>
            <p:nvPr/>
          </p:nvSpPr>
          <p:spPr>
            <a:xfrm>
              <a:off x="257175" y="257175"/>
              <a:ext cx="533400" cy="533400"/>
            </a:xfrm>
            <a:prstGeom prst="ellipse">
              <a:avLst/>
            </a:prstGeom>
            <a:solidFill>
              <a:srgbClr val="F3E8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h1f3510bad6b775e2_88_2714"/>
            <p:cNvSpPr txBox="1"/>
            <p:nvPr/>
          </p:nvSpPr>
          <p:spPr>
            <a:xfrm>
              <a:off x="1000125" y="304800"/>
              <a:ext cx="3857700" cy="14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rgbClr val="4C1D95"/>
                  </a:solidFill>
                  <a:latin typeface="Calibri"/>
                  <a:ea typeface="Calibri"/>
                  <a:cs typeface="Calibri"/>
                  <a:sym typeface="Calibri"/>
                </a:rPr>
                <a:t>README Documentation</a:t>
              </a:r>
              <a:endParaRPr sz="2000" b="1">
                <a:solidFill>
                  <a:srgbClr val="4C1D95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4B5563"/>
                  </a:solidFill>
                  <a:latin typeface="Calibri"/>
                  <a:ea typeface="Calibri"/>
                  <a:cs typeface="Calibri"/>
                  <a:sym typeface="Calibri"/>
                </a:rPr>
                <a:t>Includes reproducible setup and installation instructions</a:t>
              </a:r>
              <a:endParaRPr sz="140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135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704EA6"/>
                  </a:solidFill>
                  <a:highlight>
                    <a:srgbClr val="F3E8FF"/>
                  </a:highlight>
                  <a:latin typeface="Calibri"/>
                  <a:ea typeface="Calibri"/>
                  <a:cs typeface="Calibri"/>
                  <a:sym typeface="Calibri"/>
                </a:rPr>
                <a:t>Status: Y</a:t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4" name="Google Shape;394;h1f3510bad6b775e2_88_2714"/>
          <p:cNvGrpSpPr/>
          <p:nvPr/>
        </p:nvGrpSpPr>
        <p:grpSpPr>
          <a:xfrm>
            <a:off x="762000" y="3714750"/>
            <a:ext cx="5143500" cy="2095500"/>
            <a:chOff x="0" y="0"/>
            <a:chExt cx="5143500" cy="2095500"/>
          </a:xfrm>
        </p:grpSpPr>
        <p:sp>
          <p:nvSpPr>
            <p:cNvPr id="395" name="Google Shape;395;h1f3510bad6b775e2_88_2714"/>
            <p:cNvSpPr/>
            <p:nvPr/>
          </p:nvSpPr>
          <p:spPr>
            <a:xfrm>
              <a:off x="0" y="0"/>
              <a:ext cx="5143500" cy="2095500"/>
            </a:xfrm>
            <a:prstGeom prst="roundRect">
              <a:avLst>
                <a:gd name="adj" fmla="val 7272"/>
              </a:avLst>
            </a:prstGeom>
            <a:solidFill>
              <a:srgbClr val="FFFFFF"/>
            </a:solidFill>
            <a:ln w="19050" cap="flat" cmpd="sng">
              <a:solidFill>
                <a:srgbClr val="E9D5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h1f3510bad6b775e2_88_2714"/>
            <p:cNvSpPr/>
            <p:nvPr/>
          </p:nvSpPr>
          <p:spPr>
            <a:xfrm>
              <a:off x="257175" y="257175"/>
              <a:ext cx="533400" cy="533400"/>
            </a:xfrm>
            <a:prstGeom prst="ellipse">
              <a:avLst/>
            </a:prstGeom>
            <a:solidFill>
              <a:srgbClr val="F3E8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h1f3510bad6b775e2_88_2714"/>
            <p:cNvSpPr txBox="1"/>
            <p:nvPr/>
          </p:nvSpPr>
          <p:spPr>
            <a:xfrm>
              <a:off x="371475" y="406527"/>
              <a:ext cx="304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704EA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98" name="Google Shape;398;h1f3510bad6b775e2_88_2714"/>
            <p:cNvSpPr txBox="1"/>
            <p:nvPr/>
          </p:nvSpPr>
          <p:spPr>
            <a:xfrm>
              <a:off x="1000125" y="304800"/>
              <a:ext cx="3857700" cy="14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rgbClr val="4C1D95"/>
                  </a:solidFill>
                  <a:latin typeface="Calibri"/>
                  <a:ea typeface="Calibri"/>
                  <a:cs typeface="Calibri"/>
                  <a:sym typeface="Calibri"/>
                </a:rPr>
                <a:t>Demo Video</a:t>
              </a:r>
              <a:endParaRPr sz="2000" b="1">
                <a:solidFill>
                  <a:srgbClr val="4C1D95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4B5563"/>
                  </a:solidFill>
                  <a:latin typeface="Calibri"/>
                  <a:ea typeface="Calibri"/>
                  <a:cs typeface="Calibri"/>
                  <a:sym typeface="Calibri"/>
                </a:rPr>
                <a:t>Max 5 minutes length (YouTube or Google Drive link)</a:t>
              </a:r>
              <a:endParaRPr sz="140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135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704EA6"/>
                  </a:solidFill>
                  <a:highlight>
                    <a:srgbClr val="F3E8FF"/>
                  </a:highlight>
                  <a:latin typeface="Calibri"/>
                  <a:ea typeface="Calibri"/>
                  <a:cs typeface="Calibri"/>
                  <a:sym typeface="Calibri"/>
                </a:rPr>
                <a:t>Link Provided</a:t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9" name="Google Shape;399;h1f3510bad6b775e2_88_2714"/>
          <p:cNvGrpSpPr/>
          <p:nvPr/>
        </p:nvGrpSpPr>
        <p:grpSpPr>
          <a:xfrm>
            <a:off x="6286500" y="3714750"/>
            <a:ext cx="5143500" cy="2095500"/>
            <a:chOff x="0" y="0"/>
            <a:chExt cx="5143500" cy="2095500"/>
          </a:xfrm>
        </p:grpSpPr>
        <p:sp>
          <p:nvSpPr>
            <p:cNvPr id="400" name="Google Shape;400;h1f3510bad6b775e2_88_2714"/>
            <p:cNvSpPr/>
            <p:nvPr/>
          </p:nvSpPr>
          <p:spPr>
            <a:xfrm>
              <a:off x="0" y="0"/>
              <a:ext cx="5143500" cy="2095500"/>
            </a:xfrm>
            <a:prstGeom prst="roundRect">
              <a:avLst>
                <a:gd name="adj" fmla="val 7272"/>
              </a:avLst>
            </a:prstGeom>
            <a:solidFill>
              <a:srgbClr val="FFFFFF"/>
            </a:solidFill>
            <a:ln w="19050" cap="flat" cmpd="sng">
              <a:solidFill>
                <a:srgbClr val="E9D5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h1f3510bad6b775e2_88_2714"/>
            <p:cNvSpPr/>
            <p:nvPr/>
          </p:nvSpPr>
          <p:spPr>
            <a:xfrm>
              <a:off x="257175" y="257175"/>
              <a:ext cx="533400" cy="533400"/>
            </a:xfrm>
            <a:prstGeom prst="ellipse">
              <a:avLst/>
            </a:prstGeom>
            <a:solidFill>
              <a:srgbClr val="F3E8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h1f3510bad6b775e2_88_2714"/>
            <p:cNvSpPr txBox="1"/>
            <p:nvPr/>
          </p:nvSpPr>
          <p:spPr>
            <a:xfrm>
              <a:off x="1000125" y="304800"/>
              <a:ext cx="3857700" cy="14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rgbClr val="4C1D95"/>
                  </a:solidFill>
                  <a:latin typeface="Calibri"/>
                  <a:ea typeface="Calibri"/>
                  <a:cs typeface="Calibri"/>
                  <a:sym typeface="Calibri"/>
                </a:rPr>
                <a:t>Presentation File</a:t>
              </a:r>
              <a:endParaRPr sz="2000" b="1">
                <a:solidFill>
                  <a:srgbClr val="4C1D95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4B5563"/>
                  </a:solidFill>
                  <a:latin typeface="Calibri"/>
                  <a:ea typeface="Calibri"/>
                  <a:cs typeface="Calibri"/>
                  <a:sym typeface="Calibri"/>
                </a:rPr>
                <a:t>Final presentation deliverable in PPT or PDF format</a:t>
              </a:r>
              <a:endParaRPr sz="140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135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704EA6"/>
                  </a:solidFill>
                  <a:highlight>
                    <a:srgbClr val="F3E8FF"/>
                  </a:highlight>
                  <a:latin typeface="Calibri"/>
                  <a:ea typeface="Calibri"/>
                  <a:cs typeface="Calibri"/>
                  <a:sym typeface="Calibri"/>
                </a:rPr>
                <a:t>Status: Y</a:t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" name="Google Shape;409;p12"/>
          <p:cNvGrpSpPr/>
          <p:nvPr/>
        </p:nvGrpSpPr>
        <p:grpSpPr>
          <a:xfrm>
            <a:off x="2286000" y="1333500"/>
            <a:ext cx="7620000" cy="3429000"/>
            <a:chOff x="0" y="0"/>
            <a:chExt cx="7620000" cy="3429000"/>
          </a:xfrm>
        </p:grpSpPr>
        <p:sp>
          <p:nvSpPr>
            <p:cNvPr id="410" name="Google Shape;410;p12"/>
            <p:cNvSpPr/>
            <p:nvPr/>
          </p:nvSpPr>
          <p:spPr>
            <a:xfrm>
              <a:off x="0" y="0"/>
              <a:ext cx="7620000" cy="3429000"/>
            </a:xfrm>
            <a:prstGeom prst="roundRect">
              <a:avLst>
                <a:gd name="adj" fmla="val 5555"/>
              </a:avLst>
            </a:prstGeom>
            <a:solidFill>
              <a:srgbClr val="FFFFFF"/>
            </a:solidFill>
            <a:ln w="19050" cap="flat" cmpd="sng">
              <a:solidFill>
                <a:srgbClr val="E9D5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12"/>
            <p:cNvSpPr txBox="1"/>
            <p:nvPr/>
          </p:nvSpPr>
          <p:spPr>
            <a:xfrm>
              <a:off x="381000" y="381000"/>
              <a:ext cx="68580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 b="1">
                  <a:solidFill>
                    <a:srgbClr val="704EA6"/>
                  </a:solidFill>
                  <a:latin typeface="Calibri"/>
                  <a:ea typeface="Calibri"/>
                  <a:cs typeface="Calibri"/>
                  <a:sym typeface="Calibri"/>
                </a:rPr>
                <a:t>FixPath</a:t>
              </a:r>
              <a:endParaRPr sz="42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ctr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800" i="1">
                  <a:solidFill>
                    <a:srgbClr val="4C1D95"/>
                  </a:solidFill>
                  <a:latin typeface="Calibri"/>
                  <a:ea typeface="Calibri"/>
                  <a:cs typeface="Calibri"/>
                  <a:sym typeface="Calibri"/>
                </a:rPr>
                <a:t>From “Something is wrong” to “Here’s what to do next.”</a:t>
              </a:r>
              <a:endParaRPr sz="1800" i="1">
                <a:solidFill>
                  <a:srgbClr val="4C1D95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ctr" rtl="0">
                <a:spcBef>
                  <a:spcPts val="210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rgbClr val="704EA6"/>
                  </a:solidFill>
                  <a:highlight>
                    <a:srgbClr val="F3E8FF"/>
                  </a:highlight>
                  <a:latin typeface="Calibri"/>
                  <a:ea typeface="Calibri"/>
                  <a:cs typeface="Calibri"/>
                  <a:sym typeface="Calibri"/>
                </a:rPr>
                <a:t>Guided</a:t>
              </a:r>
              <a:r>
                <a:rPr lang="en-US"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1200" b="1">
                  <a:solidFill>
                    <a:srgbClr val="704EA6"/>
                  </a:solidFill>
                  <a:highlight>
                    <a:srgbClr val="F3E8FF"/>
                  </a:highlight>
                  <a:latin typeface="Calibri"/>
                  <a:ea typeface="Calibri"/>
                  <a:cs typeface="Calibri"/>
                  <a:sym typeface="Calibri"/>
                </a:rPr>
                <a:t>Grounded</a:t>
              </a:r>
              <a:r>
                <a:rPr lang="en-US"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1200" b="1">
                  <a:solidFill>
                    <a:srgbClr val="704EA6"/>
                  </a:solidFill>
                  <a:highlight>
                    <a:srgbClr val="F3E8FF"/>
                  </a:highlight>
                  <a:latin typeface="Calibri"/>
                  <a:ea typeface="Calibri"/>
                  <a:cs typeface="Calibri"/>
                  <a:sym typeface="Calibri"/>
                </a:rPr>
                <a:t>Safe</a:t>
              </a:r>
              <a:r>
                <a:rPr lang="en-US"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1200" b="1">
                  <a:solidFill>
                    <a:srgbClr val="704EA6"/>
                  </a:solidFill>
                  <a:highlight>
                    <a:srgbClr val="F3E8FF"/>
                  </a:highlight>
                  <a:latin typeface="Calibri"/>
                  <a:ea typeface="Calibri"/>
                  <a:cs typeface="Calibri"/>
                  <a:sym typeface="Calibri"/>
                </a:rPr>
                <a:t>Actionable</a:t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2" name="Google Shape;412;p12"/>
          <p:cNvSpPr txBox="1"/>
          <p:nvPr/>
        </p:nvSpPr>
        <p:spPr>
          <a:xfrm>
            <a:off x="2286000" y="571500"/>
            <a:ext cx="76200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sz="4000" b="1">
              <a:solidFill>
                <a:srgbClr val="704EA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2"/>
          <p:cNvSpPr txBox="1"/>
          <p:nvPr/>
        </p:nvSpPr>
        <p:spPr>
          <a:xfrm>
            <a:off x="1333500" y="5238750"/>
            <a:ext cx="9525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Organised by the Language AI Team and the PRISM Team, Samsung R&amp;D Institute India</a:t>
            </a:r>
            <a:endParaRPr sz="1300" b="0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1499</Words>
  <Application>Microsoft Office PowerPoint</Application>
  <PresentationFormat>Widescreen</PresentationFormat>
  <Paragraphs>209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Material Icons</vt:lpstr>
      <vt:lpstr>Office Theme</vt:lpstr>
      <vt:lpstr>PowerPoint Presentation</vt:lpstr>
      <vt:lpstr>Theme</vt:lpstr>
      <vt:lpstr>Existing Solutions &amp; Gaps</vt:lpstr>
      <vt:lpstr>Our Solutions &amp; Architecture Diagram</vt:lpstr>
      <vt:lpstr>PowerPoint Presentation</vt:lpstr>
      <vt:lpstr>PowerPoint Presentation</vt:lpstr>
      <vt:lpstr>PowerPoint Presentation</vt:lpstr>
      <vt:lpstr>Innovation highlights, results and limitations</vt:lpstr>
      <vt:lpstr>What’s next?</vt:lpstr>
      <vt:lpstr>Brownie points slide( differentiation)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Binny Lakra/PRISM /SRI-Bangalore/Professional/Samsung Electronics</dc:creator>
  <cp:lastModifiedBy>Bhumika Rajput</cp:lastModifiedBy>
  <cp:revision>3</cp:revision>
  <dcterms:created xsi:type="dcterms:W3CDTF">2026-09-07T12:01:01Z</dcterms:created>
  <dcterms:modified xsi:type="dcterms:W3CDTF">2026-09-30T18:04:54Z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